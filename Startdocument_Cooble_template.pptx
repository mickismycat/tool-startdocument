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2.svg" ContentType="image/svg+xml"/>
  <Override PartName="/ppt/media/image13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</p:sldIdLst>
  <p:sldSz cx="18288000" cy="10287000"/>
  <p:notesSz cx="6858000" cy="9144000"/>
  <p:embeddedFontLst>
    <p:embeddedFont>
      <p:font typeface="Poppins" panose="00000500000000000000" pitchFamily="2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940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70902E-769C-4A94-A487-389AC7019DAB}" type="datetimeFigureOut">
              <a:rPr lang="nl-NL" smtClean="0"/>
              <a:t>18-8-2026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10154-DE0F-4F22-BC97-80BC13DCFDA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4827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10154-DE0F-4F22-BC97-80BC13DCFDA7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431775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3" Type="http://schemas.openxmlformats.org/officeDocument/2006/relationships/image" Target="../media/image6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3" Type="http://schemas.openxmlformats.org/officeDocument/2006/relationships/image" Target="../media/image2.png"/><Relationship Id="rId4" Type="http://schemas.openxmlformats.org/officeDocument/2006/relationships/image" Target="../media/image8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12.svg"/><Relationship Id="rId5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80006" y="668650"/>
            <a:ext cx="10324006" cy="9332902"/>
            <a:chOff x="0" y="0"/>
            <a:chExt cx="6350000" cy="574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1270" cy="5741670"/>
            </a:xfrm>
            <a:custGeom>
              <a:avLst/>
              <a:gdLst/>
              <a:ahLst/>
              <a:cxnLst/>
              <a:rect l="l" t="t" r="r" b="b"/>
              <a:pathLst>
                <a:path w="6351270" h="5741670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42570" y="2933700"/>
                    <a:pt x="542290" y="2933700"/>
                  </a:cubicBezTo>
                  <a:lnTo>
                    <a:pt x="1148080" y="2933700"/>
                  </a:lnTo>
                  <a:cubicBezTo>
                    <a:pt x="1447800" y="2933700"/>
                    <a:pt x="1690370" y="3176270"/>
                    <a:pt x="1690370" y="3475990"/>
                  </a:cubicBezTo>
                  <a:lnTo>
                    <a:pt x="1690370" y="5199380"/>
                  </a:lnTo>
                  <a:cubicBezTo>
                    <a:pt x="1690370" y="5499100"/>
                    <a:pt x="1932940" y="5741670"/>
                    <a:pt x="2232660" y="5741670"/>
                  </a:cubicBezTo>
                  <a:lnTo>
                    <a:pt x="3599180" y="5741670"/>
                  </a:lnTo>
                  <a:cubicBezTo>
                    <a:pt x="3735070" y="5741670"/>
                    <a:pt x="3867150" y="5689600"/>
                    <a:pt x="3967480" y="5598160"/>
                  </a:cubicBezTo>
                  <a:lnTo>
                    <a:pt x="6177280" y="3553460"/>
                  </a:lnTo>
                  <a:cubicBezTo>
                    <a:pt x="6287770" y="3450590"/>
                    <a:pt x="6351270" y="3307080"/>
                    <a:pt x="6351270" y="3155950"/>
                  </a:cubicBezTo>
                  <a:lnTo>
                    <a:pt x="6351270" y="542290"/>
                  </a:lnTo>
                  <a:cubicBezTo>
                    <a:pt x="6350000" y="242570"/>
                    <a:pt x="6107430" y="0"/>
                    <a:pt x="5807710" y="0"/>
                  </a:cubicBezTo>
                  <a:lnTo>
                    <a:pt x="542290" y="0"/>
                  </a:lnTo>
                  <a:cubicBezTo>
                    <a:pt x="242570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2"/>
              <a:stretch>
                <a:fillRect l="-14818" r="-20615"/>
              </a:stretch>
            </a:blipFill>
          </p:spPr>
          <p:txBody>
            <a:bodyPr/>
            <a:lstStyle/>
            <a:p>
              <a:endParaRPr lang="nl-NL" noProof="0" dirty="0"/>
            </a:p>
          </p:txBody>
        </p:sp>
      </p:grpSp>
      <p:sp>
        <p:nvSpPr>
          <p:cNvPr id="4" name="Freeform 4"/>
          <p:cNvSpPr/>
          <p:nvPr/>
        </p:nvSpPr>
        <p:spPr>
          <a:xfrm>
            <a:off x="15969796" y="246028"/>
            <a:ext cx="2062583" cy="566002"/>
          </a:xfrm>
          <a:custGeom>
            <a:avLst/>
            <a:gdLst/>
            <a:ahLst/>
            <a:cxnLst/>
            <a:rect l="l" t="t" r="r" b="b"/>
            <a:pathLst>
              <a:path w="2062583" h="566002">
                <a:moveTo>
                  <a:pt x="0" y="0"/>
                </a:moveTo>
                <a:lnTo>
                  <a:pt x="2062583" y="0"/>
                </a:lnTo>
                <a:lnTo>
                  <a:pt x="2062583" y="566002"/>
                </a:lnTo>
                <a:lnTo>
                  <a:pt x="0" y="566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nl-NL" noProof="0" dirty="0"/>
          </a:p>
        </p:txBody>
      </p:sp>
      <p:sp>
        <p:nvSpPr>
          <p:cNvPr id="5" name="TextBox 5"/>
          <p:cNvSpPr txBox="1"/>
          <p:nvPr/>
        </p:nvSpPr>
        <p:spPr>
          <a:xfrm>
            <a:off x="9678738" y="8677275"/>
            <a:ext cx="7397895" cy="511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nl-NL" sz="3000" b="1" noProof="0" dirty="0">
                <a:solidFill>
                  <a:srgbClr val="191935"/>
                </a:solidFill>
                <a:latin typeface="Poppins" panose="00000500000000000000" pitchFamily="2" charset="0"/>
                <a:ea typeface="ITC Franklin Gothic LT Semi-Bold"/>
                <a:cs typeface="Poppins" panose="00000500000000000000" pitchFamily="2" charset="0"/>
                <a:sym typeface="ITC Franklin Gothic LT Semi-Bold"/>
              </a:rPr>
              <a:t>{{vacaturenaam}}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78738" y="3231328"/>
            <a:ext cx="8353641" cy="278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630"/>
              </a:lnSpc>
            </a:pPr>
            <a:r>
              <a:rPr lang="nl-NL" sz="11190" spc="-223" noProof="0" dirty="0">
                <a:solidFill>
                  <a:srgbClr val="191935"/>
                </a:solidFill>
                <a:latin typeface="Poppins" panose="00000500000000000000" pitchFamily="2" charset="0"/>
                <a:cs typeface="Poppins" panose="00000500000000000000" pitchFamily="2" charset="0"/>
                <a:sym typeface="Gosha"/>
              </a:rPr>
              <a:t>START</a:t>
            </a:r>
          </a:p>
          <a:p>
            <a:pPr>
              <a:lnSpc>
                <a:spcPts val="10630"/>
              </a:lnSpc>
            </a:pPr>
            <a:r>
              <a:rPr lang="nl-NL" sz="11190" spc="-223" noProof="0" dirty="0">
                <a:solidFill>
                  <a:srgbClr val="191935"/>
                </a:solidFill>
                <a:latin typeface="Poppins" panose="00000500000000000000" pitchFamily="2" charset="0"/>
                <a:cs typeface="Poppins" panose="00000500000000000000" pitchFamily="2" charset="0"/>
                <a:sym typeface="Gosha"/>
              </a:rPr>
              <a:t>DOCUMENT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78738" y="971550"/>
            <a:ext cx="7397895" cy="547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nl-NL" sz="3200" b="1" noProof="0" dirty="0">
                <a:solidFill>
                  <a:srgbClr val="191935"/>
                </a:solidFill>
                <a:latin typeface="Poppins" panose="00000500000000000000" pitchFamily="2" charset="0"/>
                <a:ea typeface="Gosha Bold"/>
                <a:cs typeface="Poppins" panose="00000500000000000000" pitchFamily="2" charset="0"/>
                <a:sym typeface="Gosha Bold"/>
              </a:rPr>
              <a:t>{{datum}}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67193" y="-218694"/>
            <a:ext cx="9446828" cy="10724387"/>
            <a:chOff x="0" y="0"/>
            <a:chExt cx="6901965" cy="7835366"/>
          </a:xfrm>
        </p:grpSpPr>
        <p:sp>
          <p:nvSpPr>
            <p:cNvPr id="3" name="Freeform 3"/>
            <p:cNvSpPr/>
            <p:nvPr/>
          </p:nvSpPr>
          <p:spPr>
            <a:xfrm>
              <a:off x="3537" y="0"/>
              <a:ext cx="6897048" cy="7835366"/>
            </a:xfrm>
            <a:custGeom>
              <a:avLst/>
              <a:gdLst/>
              <a:ahLst/>
              <a:cxnLst/>
              <a:rect l="l" t="t" r="r" b="b"/>
              <a:pathLst>
                <a:path w="6897048" h="7835366">
                  <a:moveTo>
                    <a:pt x="1242958" y="533579"/>
                  </a:moveTo>
                  <a:lnTo>
                    <a:pt x="115177" y="2905229"/>
                  </a:lnTo>
                  <a:cubicBezTo>
                    <a:pt x="-72117" y="3310884"/>
                    <a:pt x="-28937" y="3822581"/>
                    <a:pt x="229749" y="4167641"/>
                  </a:cubicBezTo>
                  <a:lnTo>
                    <a:pt x="2742065" y="7490307"/>
                  </a:lnTo>
                  <a:cubicBezTo>
                    <a:pt x="2907712" y="7710808"/>
                    <a:pt x="3142379" y="7835366"/>
                    <a:pt x="3386708" y="7835366"/>
                  </a:cubicBezTo>
                  <a:lnTo>
                    <a:pt x="6019118" y="7835366"/>
                  </a:lnTo>
                  <a:cubicBezTo>
                    <a:pt x="6503636" y="7835366"/>
                    <a:pt x="6897048" y="7355649"/>
                    <a:pt x="6897048" y="6764841"/>
                  </a:cubicBezTo>
                  <a:lnTo>
                    <a:pt x="6897048" y="2506307"/>
                  </a:lnTo>
                  <a:cubicBezTo>
                    <a:pt x="6897048" y="2285806"/>
                    <a:pt x="6841832" y="2070354"/>
                    <a:pt x="6736922" y="1890251"/>
                  </a:cubicBezTo>
                  <a:lnTo>
                    <a:pt x="5908687" y="454468"/>
                  </a:lnTo>
                  <a:cubicBezTo>
                    <a:pt x="5744420" y="170005"/>
                    <a:pt x="5476623" y="0"/>
                    <a:pt x="5190882" y="0"/>
                  </a:cubicBezTo>
                  <a:lnTo>
                    <a:pt x="2002174" y="0"/>
                  </a:lnTo>
                  <a:cubicBezTo>
                    <a:pt x="1688825" y="0"/>
                    <a:pt x="1398942" y="203669"/>
                    <a:pt x="1242958" y="533579"/>
                  </a:cubicBezTo>
                  <a:close/>
                </a:path>
              </a:pathLst>
            </a:custGeom>
            <a:blipFill>
              <a:blip r:embed="rId2"/>
              <a:stretch>
                <a:fillRect b="-31872"/>
              </a:stretch>
            </a:blipFill>
          </p:spPr>
          <p:txBody>
            <a:bodyPr/>
            <a:lstStyle/>
            <a:p>
              <a:endParaRPr lang="nl-NL" noProof="0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855305" y="4440733"/>
            <a:ext cx="7951432" cy="1461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79"/>
              </a:lnSpc>
            </a:pPr>
            <a:r>
              <a:rPr lang="nl-NL" noProof="0" dirty="0">
                <a:solidFill>
                  <a:srgbClr val="191935"/>
                </a:solidFill>
                <a:latin typeface="Poppins" panose="00000500000000000000" pitchFamily="2" charset="0"/>
                <a:ea typeface="ITC Franklin Gothic LT"/>
                <a:cs typeface="Poppins" panose="00000500000000000000" pitchFamily="2" charset="0"/>
                <a:sym typeface="ITC Franklin Gothic LT"/>
              </a:rPr>
              <a:t>{{intake_samenvatting}}</a:t>
            </a:r>
            <a:endParaRPr lang="nl-NL" dirty="0">
              <a:solidFill>
                <a:srgbClr val="191935"/>
              </a:solidFill>
              <a:latin typeface="Poppins" panose="00000500000000000000" pitchFamily="2" charset="0"/>
              <a:ea typeface="ITC Franklin Gothic LT"/>
              <a:cs typeface="Poppins" panose="00000500000000000000" pitchFamily="2" charset="0"/>
              <a:sym typeface="ITC Franklin Gothic LT"/>
            </a:endParaRPr>
          </a:p>
          <a:p>
            <a:pPr>
              <a:lnSpc>
                <a:spcPts val="3879"/>
              </a:lnSpc>
            </a:pPr>
            <a:r>
              <a:t/>
            </a:r>
            <a:endParaRPr lang="nl-NL" sz="2400" dirty="0">
              <a:solidFill>
                <a:srgbClr val="191935"/>
              </a:solidFill>
              <a:latin typeface="Poppins" panose="00000500000000000000" pitchFamily="2" charset="0"/>
              <a:ea typeface="ITC Franklin Gothic LT"/>
              <a:cs typeface="Poppins" panose="00000500000000000000" pitchFamily="2" charset="0"/>
              <a:sym typeface="ITC Franklin Gothic LT"/>
            </a:endParaRPr>
          </a:p>
          <a:p>
            <a:pPr>
              <a:lnSpc>
                <a:spcPts val="3879"/>
              </a:lnSpc>
            </a:pPr>
            <a:r>
              <a:t/>
            </a:r>
            <a:endParaRPr lang="nl-NL" sz="2400" noProof="0" dirty="0">
              <a:solidFill>
                <a:srgbClr val="191935"/>
              </a:solidFill>
              <a:latin typeface="Poppins" panose="00000500000000000000" pitchFamily="2" charset="0"/>
              <a:ea typeface="ITC Franklin Gothic LT"/>
              <a:cs typeface="Poppins" panose="00000500000000000000" pitchFamily="2" charset="0"/>
              <a:sym typeface="ITC Franklin Gothic LT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9855305" y="1740694"/>
            <a:ext cx="8226172" cy="2255179"/>
            <a:chOff x="0" y="85725"/>
            <a:chExt cx="10968230" cy="3006905"/>
          </a:xfrm>
        </p:grpSpPr>
        <p:sp>
          <p:nvSpPr>
            <p:cNvPr id="6" name="TextBox 6"/>
            <p:cNvSpPr txBox="1"/>
            <p:nvPr/>
          </p:nvSpPr>
          <p:spPr>
            <a:xfrm>
              <a:off x="0" y="85725"/>
              <a:ext cx="9871994" cy="19378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999"/>
                </a:lnSpc>
              </a:pPr>
              <a:r>
                <a:rPr lang="nl-NL" sz="9600" spc="-199" noProof="0">
                  <a:solidFill>
                    <a:srgbClr val="191935"/>
                  </a:solidFill>
                  <a:latin typeface="Poppins" panose="00000500000000000000" pitchFamily="2" charset="0"/>
                  <a:ea typeface="Gosha"/>
                  <a:cs typeface="Poppins" panose="00000500000000000000" pitchFamily="2" charset="0"/>
                  <a:sym typeface="Gosha"/>
                </a:rPr>
                <a:t>INTAKE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410391"/>
              <a:ext cx="10968230" cy="6822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nl-NL" sz="2800" b="1" dirty="0">
                  <a:solidFill>
                    <a:srgbClr val="191935"/>
                  </a:solidFill>
                  <a:latin typeface="Poppins" panose="00000500000000000000" pitchFamily="2" charset="0"/>
                  <a:ea typeface="ITC Franklin Gothic LT Semi-Bold"/>
                  <a:cs typeface="Poppins" panose="00000500000000000000" pitchFamily="2" charset="0"/>
                  <a:sym typeface="ITC Franklin Gothic LT Semi-Bold"/>
                </a:rPr>
                <a:t>{{vacaturenaam}}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6018894" y="176702"/>
            <a:ext cx="2062583" cy="566002"/>
          </a:xfrm>
          <a:custGeom>
            <a:avLst/>
            <a:gdLst/>
            <a:ahLst/>
            <a:cxnLst/>
            <a:rect l="l" t="t" r="r" b="b"/>
            <a:pathLst>
              <a:path w="2062583" h="566002">
                <a:moveTo>
                  <a:pt x="0" y="0"/>
                </a:moveTo>
                <a:lnTo>
                  <a:pt x="2062582" y="0"/>
                </a:lnTo>
                <a:lnTo>
                  <a:pt x="2062582" y="566001"/>
                </a:lnTo>
                <a:lnTo>
                  <a:pt x="0" y="5660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nl-NL" noProof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2796" y="608956"/>
            <a:ext cx="16230600" cy="87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</a:pPr>
            <a:r>
              <a:rPr lang="nl-NL" sz="6000" spc="-120" dirty="0">
                <a:solidFill>
                  <a:srgbClr val="191935"/>
                </a:solidFill>
                <a:latin typeface="Poppins" panose="00000500000000000000" pitchFamily="2" charset="0"/>
                <a:ea typeface="Gosha"/>
                <a:cs typeface="Poppins" panose="00000500000000000000" pitchFamily="2" charset="0"/>
                <a:sym typeface="Gosha"/>
              </a:rPr>
              <a:t>{{vacaturenaam}}</a:t>
            </a:r>
            <a:endParaRPr lang="nl-NL" sz="6000" spc="-120" noProof="0" dirty="0">
              <a:solidFill>
                <a:srgbClr val="191935"/>
              </a:solidFill>
              <a:latin typeface="Poppins" panose="00000500000000000000" pitchFamily="2" charset="0"/>
              <a:ea typeface="Gosha"/>
              <a:cs typeface="Poppins" panose="00000500000000000000" pitchFamily="2" charset="0"/>
              <a:sym typeface="Gosha"/>
            </a:endParaRPr>
          </a:p>
        </p:txBody>
      </p:sp>
      <p:sp>
        <p:nvSpPr>
          <p:cNvPr id="22" name="Freeform 22"/>
          <p:cNvSpPr/>
          <p:nvPr/>
        </p:nvSpPr>
        <p:spPr>
          <a:xfrm rot="2396825">
            <a:off x="-5710659" y="7771841"/>
            <a:ext cx="11138513" cy="8120988"/>
          </a:xfrm>
          <a:custGeom>
            <a:avLst/>
            <a:gdLst/>
            <a:ahLst/>
            <a:cxnLst/>
            <a:rect l="l" t="t" r="r" b="b"/>
            <a:pathLst>
              <a:path w="11138513" h="8120988">
                <a:moveTo>
                  <a:pt x="0" y="0"/>
                </a:moveTo>
                <a:lnTo>
                  <a:pt x="11138513" y="0"/>
                </a:lnTo>
                <a:lnTo>
                  <a:pt x="11138513" y="8120988"/>
                </a:lnTo>
                <a:lnTo>
                  <a:pt x="0" y="812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nl-NL" noProof="0" dirty="0"/>
          </a:p>
        </p:txBody>
      </p:sp>
      <p:sp>
        <p:nvSpPr>
          <p:cNvPr id="23" name="Freeform 23"/>
          <p:cNvSpPr/>
          <p:nvPr/>
        </p:nvSpPr>
        <p:spPr>
          <a:xfrm>
            <a:off x="16284136" y="6943729"/>
            <a:ext cx="12603368" cy="7768258"/>
          </a:xfrm>
          <a:custGeom>
            <a:avLst/>
            <a:gdLst/>
            <a:ahLst/>
            <a:cxnLst/>
            <a:rect l="l" t="t" r="r" b="b"/>
            <a:pathLst>
              <a:path w="12603368" h="7768258">
                <a:moveTo>
                  <a:pt x="0" y="0"/>
                </a:moveTo>
                <a:lnTo>
                  <a:pt x="12603368" y="0"/>
                </a:lnTo>
                <a:lnTo>
                  <a:pt x="12603368" y="7768258"/>
                </a:lnTo>
                <a:lnTo>
                  <a:pt x="0" y="7768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nl-NL" noProof="0" dirty="0"/>
          </a:p>
        </p:txBody>
      </p:sp>
      <p:sp>
        <p:nvSpPr>
          <p:cNvPr id="24" name="Freeform 24"/>
          <p:cNvSpPr/>
          <p:nvPr/>
        </p:nvSpPr>
        <p:spPr>
          <a:xfrm>
            <a:off x="15948305" y="154505"/>
            <a:ext cx="2062583" cy="566002"/>
          </a:xfrm>
          <a:custGeom>
            <a:avLst/>
            <a:gdLst/>
            <a:ahLst/>
            <a:cxnLst/>
            <a:rect l="l" t="t" r="r" b="b"/>
            <a:pathLst>
              <a:path w="2062583" h="566002">
                <a:moveTo>
                  <a:pt x="0" y="0"/>
                </a:moveTo>
                <a:lnTo>
                  <a:pt x="2062582" y="0"/>
                </a:lnTo>
                <a:lnTo>
                  <a:pt x="2062582" y="566002"/>
                </a:lnTo>
                <a:lnTo>
                  <a:pt x="0" y="5660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nl-NL" noProof="0" dirty="0"/>
          </a:p>
        </p:txBody>
      </p:sp>
      <p:grpSp>
        <p:nvGrpSpPr>
          <p:cNvPr id="25" name="Group 3">
            <a:extLst>
              <a:ext uri="{FF2B5EF4-FFF2-40B4-BE49-F238E27FC236}">
                <a16:creationId xmlns:a16="http://schemas.microsoft.com/office/drawing/2014/main" id="{58957E74-7B41-DDB5-491C-CCACE6889D9D}"/>
              </a:ext>
            </a:extLst>
          </p:cNvPr>
          <p:cNvGrpSpPr/>
          <p:nvPr/>
        </p:nvGrpSpPr>
        <p:grpSpPr>
          <a:xfrm>
            <a:off x="395120" y="2173445"/>
            <a:ext cx="9511540" cy="2045479"/>
            <a:chOff x="0" y="-9525"/>
            <a:chExt cx="12682053" cy="2727305"/>
          </a:xfrm>
        </p:grpSpPr>
        <p:sp>
          <p:nvSpPr>
            <p:cNvPr id="26" name="TextBox 4">
              <a:extLst>
                <a:ext uri="{FF2B5EF4-FFF2-40B4-BE49-F238E27FC236}">
                  <a16:creationId xmlns:a16="http://schemas.microsoft.com/office/drawing/2014/main" id="{81C976D7-3D77-7956-A30E-69E822F9B62F}"/>
                </a:ext>
              </a:extLst>
            </p:cNvPr>
            <p:cNvSpPr txBox="1"/>
            <p:nvPr/>
          </p:nvSpPr>
          <p:spPr>
            <a:xfrm>
              <a:off x="0" y="1004148"/>
              <a:ext cx="12682053" cy="17136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41" lvl="1" indent="-280670" algn="l">
                <a:lnSpc>
                  <a:spcPts val="33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nl-NL" sz="2400" u="none" noProof="0" dirty="0">
                  <a:solidFill>
                    <a:srgbClr val="191935"/>
                  </a:solidFill>
                  <a:latin typeface="Poppins" panose="00000500000000000000" pitchFamily="2" charset="0"/>
                  <a:ea typeface="ITC Franklin Gothic LT Semi-Bold"/>
                  <a:cs typeface="Poppins" panose="00000500000000000000" pitchFamily="2" charset="0"/>
                  <a:sym typeface="ITC Franklin Gothic LT Semi-Bold"/>
                </a:rPr>
                <a:t>{{taak_1}}</a:t>
              </a:r>
            </a:p>
            <a:p>
              <a:pPr marL="561341" lvl="1" indent="-280670" algn="l">
                <a:lnSpc>
                  <a:spcPts val="33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nl-NL" sz="2400" dirty="0">
                  <a:solidFill>
                    <a:srgbClr val="191935"/>
                  </a:solidFill>
                  <a:latin typeface="Poppins" panose="00000500000000000000" pitchFamily="2" charset="0"/>
                  <a:ea typeface="ITC Franklin Gothic LT Semi-Bold"/>
                  <a:cs typeface="Poppins" panose="00000500000000000000" pitchFamily="2" charset="0"/>
                  <a:sym typeface="ITC Franklin Gothic LT Semi-Bold"/>
                </a:rPr>
                <a:t>{{taak_2}}</a:t>
              </a:r>
            </a:p>
            <a:p>
              <a:pPr marL="561341" lvl="1" indent="-280670" algn="l">
                <a:lnSpc>
                  <a:spcPts val="33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nl-NL" sz="2400" u="none" noProof="0" dirty="0">
                  <a:solidFill>
                    <a:srgbClr val="191935"/>
                  </a:solidFill>
                  <a:latin typeface="Poppins" panose="00000500000000000000" pitchFamily="2" charset="0"/>
                  <a:ea typeface="ITC Franklin Gothic LT Semi-Bold"/>
                  <a:cs typeface="Poppins" panose="00000500000000000000" pitchFamily="2" charset="0"/>
                  <a:sym typeface="ITC Franklin Gothic LT Semi-Bold"/>
                </a:rPr>
                <a:t>{{taak_3}}</a:t>
              </a:r>
              <a:endParaRPr lang="nl-NL" sz="2000" u="none" noProof="0" dirty="0">
                <a:solidFill>
                  <a:srgbClr val="191935"/>
                </a:solidFill>
                <a:latin typeface="Poppins" panose="00000500000000000000" pitchFamily="2" charset="0"/>
                <a:ea typeface="ITC Franklin Gothic LT Semi-Bold"/>
                <a:cs typeface="Poppins" panose="00000500000000000000" pitchFamily="2" charset="0"/>
                <a:sym typeface="ITC Franklin Gothic LT Semi-Bold"/>
              </a:endParaRPr>
            </a:p>
          </p:txBody>
        </p:sp>
        <p:sp>
          <p:nvSpPr>
            <p:cNvPr id="27" name="TextBox 5">
              <a:extLst>
                <a:ext uri="{FF2B5EF4-FFF2-40B4-BE49-F238E27FC236}">
                  <a16:creationId xmlns:a16="http://schemas.microsoft.com/office/drawing/2014/main" id="{05683412-4280-CA56-E9BB-2F726B7EEF1D}"/>
                </a:ext>
              </a:extLst>
            </p:cNvPr>
            <p:cNvSpPr txBox="1"/>
            <p:nvPr/>
          </p:nvSpPr>
          <p:spPr>
            <a:xfrm>
              <a:off x="0" y="-9525"/>
              <a:ext cx="12682053" cy="911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nl-NL" sz="4499" noProof="0" dirty="0">
                  <a:solidFill>
                    <a:srgbClr val="D6AE27"/>
                  </a:solidFill>
                  <a:latin typeface="Poppins" panose="00000500000000000000" pitchFamily="2" charset="0"/>
                  <a:ea typeface="Gosha"/>
                  <a:cs typeface="Poppins" panose="00000500000000000000" pitchFamily="2" charset="0"/>
                  <a:sym typeface="Gosha"/>
                </a:rPr>
                <a:t>Taken &amp; Verantwoordelijkheden</a:t>
              </a:r>
            </a:p>
          </p:txBody>
        </p:sp>
      </p:grpSp>
      <p:grpSp>
        <p:nvGrpSpPr>
          <p:cNvPr id="28" name="Group 6">
            <a:extLst>
              <a:ext uri="{FF2B5EF4-FFF2-40B4-BE49-F238E27FC236}">
                <a16:creationId xmlns:a16="http://schemas.microsoft.com/office/drawing/2014/main" id="{EC56BB50-3BD5-95F1-C742-D07480108AF7}"/>
              </a:ext>
            </a:extLst>
          </p:cNvPr>
          <p:cNvGrpSpPr/>
          <p:nvPr/>
        </p:nvGrpSpPr>
        <p:grpSpPr>
          <a:xfrm>
            <a:off x="395120" y="6044902"/>
            <a:ext cx="4641333" cy="3884798"/>
            <a:chOff x="0" y="-9525"/>
            <a:chExt cx="5355326" cy="5179728"/>
          </a:xfrm>
        </p:grpSpPr>
        <p:sp>
          <p:nvSpPr>
            <p:cNvPr id="29" name="TextBox 7">
              <a:extLst>
                <a:ext uri="{FF2B5EF4-FFF2-40B4-BE49-F238E27FC236}">
                  <a16:creationId xmlns:a16="http://schemas.microsoft.com/office/drawing/2014/main" id="{7129055F-90AD-E7F0-FC98-A67CF81FBB71}"/>
                </a:ext>
              </a:extLst>
            </p:cNvPr>
            <p:cNvSpPr txBox="1"/>
            <p:nvPr/>
          </p:nvSpPr>
          <p:spPr>
            <a:xfrm>
              <a:off x="7912" y="-9525"/>
              <a:ext cx="5347414" cy="911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nl-NL" sz="4499" noProof="0" dirty="0">
                  <a:solidFill>
                    <a:srgbClr val="D6AE27"/>
                  </a:solidFill>
                  <a:latin typeface="Poppins" panose="00000500000000000000" pitchFamily="2" charset="0"/>
                  <a:ea typeface="Gosha"/>
                  <a:cs typeface="Poppins" panose="00000500000000000000" pitchFamily="2" charset="0"/>
                  <a:sym typeface="Gosha"/>
                </a:rPr>
                <a:t>Kandidaat</a:t>
              </a: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3F990E11-75CB-8D4B-9616-EA115995B2D2}"/>
                </a:ext>
              </a:extLst>
            </p:cNvPr>
            <p:cNvSpPr txBox="1"/>
            <p:nvPr/>
          </p:nvSpPr>
          <p:spPr>
            <a:xfrm>
              <a:off x="0" y="1387625"/>
              <a:ext cx="5347414" cy="560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79"/>
                </a:lnSpc>
                <a:spcBef>
                  <a:spcPct val="0"/>
                </a:spcBef>
              </a:pPr>
              <a:r>
                <a:rPr lang="nl-NL" sz="2599" b="1" noProof="0" dirty="0">
                  <a:solidFill>
                    <a:srgbClr val="191935"/>
                  </a:solidFill>
                  <a:latin typeface="Poppins" panose="00000500000000000000" pitchFamily="2" charset="0"/>
                  <a:ea typeface="ITC Franklin Gothic LT Semi-Bold"/>
                  <a:cs typeface="Poppins" panose="00000500000000000000" pitchFamily="2" charset="0"/>
                  <a:sym typeface="ITC Franklin Gothic LT Semi-Bold"/>
                </a:rPr>
                <a:t>Eisen</a:t>
              </a:r>
            </a:p>
          </p:txBody>
        </p:sp>
        <p:sp>
          <p:nvSpPr>
            <p:cNvPr id="31" name="TextBox 9">
              <a:extLst>
                <a:ext uri="{FF2B5EF4-FFF2-40B4-BE49-F238E27FC236}">
                  <a16:creationId xmlns:a16="http://schemas.microsoft.com/office/drawing/2014/main" id="{3CC25AB3-8444-1773-C01D-857335D58294}"/>
                </a:ext>
              </a:extLst>
            </p:cNvPr>
            <p:cNvSpPr txBox="1"/>
            <p:nvPr/>
          </p:nvSpPr>
          <p:spPr>
            <a:xfrm>
              <a:off x="0" y="2415091"/>
              <a:ext cx="5347414" cy="27551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730"/>
                </a:lnSpc>
                <a:buFont typeface="Arial"/>
                <a:buChar char="•"/>
              </a:pPr>
              <a:r>
                <a:rPr lang="nl-NL" sz="2100" noProof="0" dirty="0">
                  <a:solidFill>
                    <a:srgbClr val="191935"/>
                  </a:solidFill>
                  <a:latin typeface="Poppins" panose="00000500000000000000" pitchFamily="2" charset="0"/>
                  <a:ea typeface="ITC Franklin Gothic LT"/>
                  <a:cs typeface="Poppins" panose="00000500000000000000" pitchFamily="2" charset="0"/>
                  <a:sym typeface="ITC Franklin Gothic LT"/>
                </a:rPr>
                <a:t>{{eis_1}}</a:t>
              </a:r>
            </a:p>
            <a:p>
              <a:pPr marL="453390" lvl="1" indent="-226695" algn="l">
                <a:lnSpc>
                  <a:spcPts val="2730"/>
                </a:lnSpc>
                <a:buFont typeface="Arial"/>
                <a:buChar char="•"/>
              </a:pPr>
              <a:r>
                <a:rPr lang="nl-NL" sz="2100" dirty="0">
                  <a:solidFill>
                    <a:srgbClr val="191935"/>
                  </a:solidFill>
                  <a:latin typeface="Poppins" panose="00000500000000000000" pitchFamily="2" charset="0"/>
                  <a:ea typeface="ITC Franklin Gothic LT"/>
                  <a:cs typeface="Poppins" panose="00000500000000000000" pitchFamily="2" charset="0"/>
                  <a:sym typeface="ITC Franklin Gothic LT"/>
                </a:rPr>
                <a:t>{{eis_2}}</a:t>
              </a:r>
            </a:p>
            <a:p>
              <a:pPr marL="453390" lvl="1" indent="-226695" algn="l">
                <a:lnSpc>
                  <a:spcPts val="2730"/>
                </a:lnSpc>
                <a:buFont typeface="Arial"/>
                <a:buChar char="•"/>
              </a:pPr>
              <a:r>
                <a:rPr lang="nl-NL" sz="2100" dirty="0">
                  <a:solidFill>
                    <a:srgbClr val="191935"/>
                  </a:solidFill>
                  <a:latin typeface="Poppins" panose="00000500000000000000" pitchFamily="2" charset="0"/>
                  <a:ea typeface="ITC Franklin Gothic LT"/>
                  <a:cs typeface="Poppins" panose="00000500000000000000" pitchFamily="2" charset="0"/>
                  <a:sym typeface="ITC Franklin Gothic LT"/>
                </a:rPr>
                <a:t>{{eis_3}}</a:t>
              </a:r>
            </a:p>
            <a:p>
              <a:pPr marL="453390" lvl="1" indent="-226695" algn="l">
                <a:lnSpc>
                  <a:spcPts val="2730"/>
                </a:lnSpc>
                <a:buFont typeface="Arial"/>
                <a:buChar char="•"/>
              </a:pPr>
              <a:r>
                <a:t/>
              </a:r>
              <a:endParaRPr lang="nl-NL" sz="2100" dirty="0">
                <a:solidFill>
                  <a:srgbClr val="191935"/>
                </a:solidFill>
                <a:latin typeface="Poppins" panose="00000500000000000000" pitchFamily="2" charset="0"/>
                <a:ea typeface="ITC Franklin Gothic LT"/>
                <a:cs typeface="Poppins" panose="00000500000000000000" pitchFamily="2" charset="0"/>
                <a:sym typeface="ITC Franklin Gothic LT"/>
              </a:endParaRPr>
            </a:p>
            <a:p>
              <a:pPr marL="453390" lvl="1" indent="-226695" algn="l">
                <a:lnSpc>
                  <a:spcPts val="2730"/>
                </a:lnSpc>
                <a:buFont typeface="Arial"/>
                <a:buChar char="•"/>
              </a:pPr>
              <a:r>
                <a:t/>
              </a:r>
              <a:endParaRPr lang="nl-NL" sz="2100" noProof="0" dirty="0">
                <a:solidFill>
                  <a:srgbClr val="191935"/>
                </a:solidFill>
                <a:latin typeface="Poppins" panose="00000500000000000000" pitchFamily="2" charset="0"/>
                <a:ea typeface="ITC Franklin Gothic LT"/>
                <a:cs typeface="Poppins" panose="00000500000000000000" pitchFamily="2" charset="0"/>
                <a:sym typeface="ITC Franklin Gothic LT"/>
              </a:endParaRPr>
            </a:p>
            <a:p>
              <a:pPr algn="l">
                <a:lnSpc>
                  <a:spcPts val="2730"/>
                </a:lnSpc>
              </a:pPr>
              <a:r>
                <a:t/>
              </a:r>
              <a:endParaRPr lang="nl-NL" sz="2100" noProof="0" dirty="0">
                <a:solidFill>
                  <a:srgbClr val="191935"/>
                </a:solidFill>
                <a:latin typeface="Poppins" panose="00000500000000000000" pitchFamily="2" charset="0"/>
                <a:ea typeface="ITC Franklin Gothic LT"/>
                <a:cs typeface="Poppins" panose="00000500000000000000" pitchFamily="2" charset="0"/>
                <a:sym typeface="ITC Franklin Gothic LT"/>
              </a:endParaRPr>
            </a:p>
          </p:txBody>
        </p:sp>
      </p:grpSp>
      <p:sp>
        <p:nvSpPr>
          <p:cNvPr id="32" name="TextBox 12">
            <a:extLst>
              <a:ext uri="{FF2B5EF4-FFF2-40B4-BE49-F238E27FC236}">
                <a16:creationId xmlns:a16="http://schemas.microsoft.com/office/drawing/2014/main" id="{91D60B2F-A2CA-ADD1-303D-761365D0A55E}"/>
              </a:ext>
            </a:extLst>
          </p:cNvPr>
          <p:cNvSpPr txBox="1"/>
          <p:nvPr/>
        </p:nvSpPr>
        <p:spPr>
          <a:xfrm>
            <a:off x="10185696" y="2271142"/>
            <a:ext cx="7492704" cy="1719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80"/>
              </a:lnSpc>
              <a:spcBef>
                <a:spcPct val="0"/>
              </a:spcBef>
            </a:pPr>
            <a:r>
              <a:rPr lang="nl-NL" sz="2600" noProof="0" dirty="0">
                <a:solidFill>
                  <a:srgbClr val="191935"/>
                </a:solidFill>
                <a:latin typeface="Poppins" panose="00000500000000000000" pitchFamily="2" charset="0"/>
                <a:cs typeface="Poppins" panose="00000500000000000000" pitchFamily="2" charset="0"/>
                <a:sym typeface="Gosha"/>
              </a:rPr>
              <a:t>Salaris: {{salaris}}</a:t>
            </a:r>
          </a:p>
          <a:p>
            <a:pPr>
              <a:lnSpc>
                <a:spcPts val="3380"/>
              </a:lnSpc>
              <a:spcBef>
                <a:spcPct val="0"/>
              </a:spcBef>
            </a:pPr>
            <a:r>
              <a:rPr lang="nl-NL" sz="2600" noProof="0" dirty="0">
                <a:solidFill>
                  <a:srgbClr val="191935"/>
                </a:solidFill>
                <a:latin typeface="Poppins" panose="00000500000000000000" pitchFamily="2" charset="0"/>
                <a:cs typeface="Poppins" panose="00000500000000000000" pitchFamily="2" charset="0"/>
                <a:sym typeface="Gosha"/>
              </a:rPr>
              <a:t>Locatie: {{locatie}}</a:t>
            </a:r>
          </a:p>
          <a:p>
            <a:pPr>
              <a:lnSpc>
                <a:spcPts val="3380"/>
              </a:lnSpc>
              <a:spcBef>
                <a:spcPct val="0"/>
              </a:spcBef>
            </a:pPr>
            <a:r>
              <a:rPr lang="nl-NL" sz="2600" noProof="0" dirty="0">
                <a:solidFill>
                  <a:srgbClr val="191935"/>
                </a:solidFill>
                <a:latin typeface="Poppins" panose="00000500000000000000" pitchFamily="2" charset="0"/>
                <a:ea typeface="ITC Franklin Gothic LT Semi-Bold"/>
                <a:cs typeface="Poppins" panose="00000500000000000000" pitchFamily="2" charset="0"/>
                <a:sym typeface="ITC Franklin Gothic LT Semi-Bold"/>
              </a:rPr>
              <a:t>Aantal uur: {{uren}}</a:t>
            </a:r>
          </a:p>
          <a:p>
            <a:pPr>
              <a:lnSpc>
                <a:spcPts val="3380"/>
              </a:lnSpc>
              <a:spcBef>
                <a:spcPct val="0"/>
              </a:spcBef>
            </a:pPr>
            <a:r>
              <a:t/>
            </a:r>
            <a:endParaRPr lang="nl-NL" sz="2600" b="1" noProof="0" dirty="0">
              <a:solidFill>
                <a:srgbClr val="191935"/>
              </a:solidFill>
              <a:latin typeface="Poppins" panose="00000500000000000000" pitchFamily="2" charset="0"/>
              <a:cs typeface="Poppins" panose="00000500000000000000" pitchFamily="2" charset="0"/>
              <a:sym typeface="Gosha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16B200FA-2B6D-FC3D-2720-6194F6B67BF3}"/>
              </a:ext>
            </a:extLst>
          </p:cNvPr>
          <p:cNvSpPr txBox="1"/>
          <p:nvPr/>
        </p:nvSpPr>
        <p:spPr>
          <a:xfrm>
            <a:off x="10185696" y="4762500"/>
            <a:ext cx="8254704" cy="1274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39" lvl="1" indent="-280669" algn="l">
              <a:lnSpc>
                <a:spcPts val="3379"/>
              </a:lnSpc>
              <a:buFont typeface="Arial"/>
              <a:buChar char="•"/>
            </a:pPr>
            <a:r>
              <a:rPr lang="nl-NL" sz="2100" noProof="0" dirty="0">
                <a:solidFill>
                  <a:srgbClr val="191935"/>
                </a:solidFill>
                <a:latin typeface="Poppins" panose="00000500000000000000" pitchFamily="2" charset="0"/>
                <a:ea typeface="ITC Franklin Gothic LT Semi-Bold"/>
                <a:cs typeface="Poppins" panose="00000500000000000000" pitchFamily="2" charset="0"/>
                <a:sym typeface="ITC Franklin Gothic LT Semi-Bold"/>
              </a:rPr>
              <a:t>{{usp_1}}</a:t>
            </a:r>
          </a:p>
          <a:p>
            <a:pPr marL="561339" lvl="1" indent="-280669" algn="l">
              <a:lnSpc>
                <a:spcPts val="3379"/>
              </a:lnSpc>
              <a:buFont typeface="Arial"/>
              <a:buChar char="•"/>
            </a:pPr>
            <a:r>
              <a:rPr lang="nl-NL" sz="2100" dirty="0">
                <a:solidFill>
                  <a:srgbClr val="191935"/>
                </a:solidFill>
                <a:latin typeface="Poppins" panose="00000500000000000000" pitchFamily="2" charset="0"/>
                <a:ea typeface="ITC Franklin Gothic LT Semi-Bold"/>
                <a:cs typeface="Poppins" panose="00000500000000000000" pitchFamily="2" charset="0"/>
                <a:sym typeface="ITC Franklin Gothic LT Semi-Bold"/>
              </a:rPr>
              <a:t>{{usp_2}}</a:t>
            </a:r>
          </a:p>
          <a:p>
            <a:pPr marL="561339" lvl="1" indent="-280669" algn="l">
              <a:lnSpc>
                <a:spcPts val="3379"/>
              </a:lnSpc>
              <a:buFont typeface="Arial"/>
              <a:buChar char="•"/>
            </a:pPr>
            <a:r>
              <a:rPr lang="nl-NL" sz="2100" noProof="0" dirty="0">
                <a:solidFill>
                  <a:srgbClr val="191935"/>
                </a:solidFill>
                <a:latin typeface="Poppins" panose="00000500000000000000" pitchFamily="2" charset="0"/>
                <a:ea typeface="ITC Franklin Gothic LT Semi-Bold"/>
                <a:cs typeface="Poppins" panose="00000500000000000000" pitchFamily="2" charset="0"/>
                <a:sym typeface="ITC Franklin Gothic LT Semi-Bold"/>
              </a:rPr>
              <a:t>{{usp_3}}</a:t>
            </a:r>
            <a:r>
              <a:rPr lang="nl-NL" sz="2100" dirty="0">
                <a:solidFill>
                  <a:srgbClr val="191935"/>
                </a:solidFill>
                <a:latin typeface="Poppins" panose="00000500000000000000" pitchFamily="2" charset="0"/>
                <a:ea typeface="ITC Franklin Gothic LT Semi-Bold"/>
                <a:cs typeface="Poppins" panose="00000500000000000000" pitchFamily="2" charset="0"/>
                <a:sym typeface="ITC Franklin Gothic LT Semi-Bold"/>
              </a:rPr>
              <a:t/>
            </a:r>
            <a:endParaRPr lang="nl-NL" sz="2100" noProof="0" dirty="0">
              <a:solidFill>
                <a:srgbClr val="191935"/>
              </a:solidFill>
              <a:latin typeface="Poppins" panose="00000500000000000000" pitchFamily="2" charset="0"/>
              <a:ea typeface="ITC Franklin Gothic LT Semi-Bold"/>
              <a:cs typeface="Poppins" panose="00000500000000000000" pitchFamily="2" charset="0"/>
              <a:sym typeface="ITC Franklin Gothic LT Semi-Bold"/>
            </a:endParaRPr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9771944A-0C9E-E0FA-116A-E2F2FFFF5008}"/>
              </a:ext>
            </a:extLst>
          </p:cNvPr>
          <p:cNvSpPr txBox="1"/>
          <p:nvPr/>
        </p:nvSpPr>
        <p:spPr>
          <a:xfrm>
            <a:off x="10185696" y="4109724"/>
            <a:ext cx="7052666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nl-NL" sz="4499" noProof="0" dirty="0">
                <a:solidFill>
                  <a:srgbClr val="D6AE27"/>
                </a:solidFill>
                <a:latin typeface="Poppins" panose="00000500000000000000" pitchFamily="2" charset="0"/>
                <a:ea typeface="Gosha"/>
                <a:cs typeface="Poppins" panose="00000500000000000000" pitchFamily="2" charset="0"/>
                <a:sym typeface="Gosha"/>
              </a:rPr>
              <a:t>USP's van de functie</a:t>
            </a:r>
          </a:p>
        </p:txBody>
      </p:sp>
      <p:grpSp>
        <p:nvGrpSpPr>
          <p:cNvPr id="35" name="Group 15">
            <a:extLst>
              <a:ext uri="{FF2B5EF4-FFF2-40B4-BE49-F238E27FC236}">
                <a16:creationId xmlns:a16="http://schemas.microsoft.com/office/drawing/2014/main" id="{6ECE2666-EB6F-59AF-06DA-FB3BA0D4EB95}"/>
              </a:ext>
            </a:extLst>
          </p:cNvPr>
          <p:cNvGrpSpPr/>
          <p:nvPr/>
        </p:nvGrpSpPr>
        <p:grpSpPr>
          <a:xfrm>
            <a:off x="10185696" y="7505700"/>
            <a:ext cx="6576297" cy="1468171"/>
            <a:chOff x="0" y="-9525"/>
            <a:chExt cx="8768396" cy="1957560"/>
          </a:xfrm>
        </p:grpSpPr>
        <p:sp>
          <p:nvSpPr>
            <p:cNvPr id="36" name="TextBox 16">
              <a:extLst>
                <a:ext uri="{FF2B5EF4-FFF2-40B4-BE49-F238E27FC236}">
                  <a16:creationId xmlns:a16="http://schemas.microsoft.com/office/drawing/2014/main" id="{3EA65F2A-A89E-33D2-644D-2F61F1939745}"/>
                </a:ext>
              </a:extLst>
            </p:cNvPr>
            <p:cNvSpPr txBox="1"/>
            <p:nvPr/>
          </p:nvSpPr>
          <p:spPr>
            <a:xfrm>
              <a:off x="0" y="1387625"/>
              <a:ext cx="8768396" cy="5604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39" lvl="1" indent="-280669" algn="l">
                <a:lnSpc>
                  <a:spcPts val="3379"/>
                </a:lnSpc>
                <a:buFont typeface="Arial"/>
                <a:buChar char="•"/>
              </a:pPr>
              <a:r>
                <a:rPr lang="nl-NL" sz="2599" noProof="0" dirty="0">
                  <a:solidFill>
                    <a:srgbClr val="191935"/>
                  </a:solidFill>
                  <a:latin typeface="Poppins" panose="00000500000000000000" pitchFamily="2" charset="0"/>
                  <a:ea typeface="ITC Franklin Gothic LT Semi-Bold"/>
                  <a:cs typeface="Poppins" panose="00000500000000000000" pitchFamily="2" charset="0"/>
                  <a:sym typeface="ITC Franklin Gothic LT Semi-Bold"/>
                </a:rPr>
                <a:t>{{no_go_sourcing}}</a:t>
              </a:r>
            </a:p>
          </p:txBody>
        </p:sp>
        <p:sp>
          <p:nvSpPr>
            <p:cNvPr id="37" name="TextBox 17">
              <a:extLst>
                <a:ext uri="{FF2B5EF4-FFF2-40B4-BE49-F238E27FC236}">
                  <a16:creationId xmlns:a16="http://schemas.microsoft.com/office/drawing/2014/main" id="{C1A2A044-A9AF-3E75-4CE0-BDFF627CBA92}"/>
                </a:ext>
              </a:extLst>
            </p:cNvPr>
            <p:cNvSpPr txBox="1"/>
            <p:nvPr/>
          </p:nvSpPr>
          <p:spPr>
            <a:xfrm>
              <a:off x="0" y="-9525"/>
              <a:ext cx="8768396" cy="911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nl-NL" sz="4499" noProof="0" dirty="0">
                  <a:solidFill>
                    <a:srgbClr val="D6AE27"/>
                  </a:solidFill>
                  <a:latin typeface="Poppins" panose="00000500000000000000" pitchFamily="2" charset="0"/>
                  <a:ea typeface="Gosha"/>
                  <a:cs typeface="Poppins" panose="00000500000000000000" pitchFamily="2" charset="0"/>
                  <a:sym typeface="Gosha"/>
                </a:rPr>
                <a:t>No Go </a:t>
              </a:r>
              <a:r>
                <a:rPr lang="nl-NL" sz="4499" noProof="0" dirty="0" err="1">
                  <a:solidFill>
                    <a:srgbClr val="D6AE27"/>
                  </a:solidFill>
                  <a:latin typeface="Poppins" panose="00000500000000000000" pitchFamily="2" charset="0"/>
                  <a:ea typeface="Gosha"/>
                  <a:cs typeface="Poppins" panose="00000500000000000000" pitchFamily="2" charset="0"/>
                  <a:sym typeface="Gosha"/>
                </a:rPr>
                <a:t>Sourcing</a:t>
              </a:r>
              <a:endParaRPr lang="nl-NL" sz="4499" noProof="0" dirty="0">
                <a:solidFill>
                  <a:srgbClr val="D6AE27"/>
                </a:solidFill>
                <a:latin typeface="Poppins" panose="00000500000000000000" pitchFamily="2" charset="0"/>
                <a:ea typeface="Gosha"/>
                <a:cs typeface="Poppins" panose="00000500000000000000" pitchFamily="2" charset="0"/>
                <a:sym typeface="Gosha"/>
              </a:endParaRPr>
            </a:p>
          </p:txBody>
        </p:sp>
      </p:grpSp>
      <p:grpSp>
        <p:nvGrpSpPr>
          <p:cNvPr id="38" name="Group 18">
            <a:extLst>
              <a:ext uri="{FF2B5EF4-FFF2-40B4-BE49-F238E27FC236}">
                <a16:creationId xmlns:a16="http://schemas.microsoft.com/office/drawing/2014/main" id="{FF1E84E6-C500-2784-7340-F7CFE7AD003A}"/>
              </a:ext>
            </a:extLst>
          </p:cNvPr>
          <p:cNvGrpSpPr/>
          <p:nvPr/>
        </p:nvGrpSpPr>
        <p:grpSpPr>
          <a:xfrm>
            <a:off x="5025114" y="6044902"/>
            <a:ext cx="4656115" cy="3192299"/>
            <a:chOff x="0" y="-9525"/>
            <a:chExt cx="5364445" cy="4256397"/>
          </a:xfrm>
        </p:grpSpPr>
        <p:sp>
          <p:nvSpPr>
            <p:cNvPr id="39" name="TextBox 19">
              <a:extLst>
                <a:ext uri="{FF2B5EF4-FFF2-40B4-BE49-F238E27FC236}">
                  <a16:creationId xmlns:a16="http://schemas.microsoft.com/office/drawing/2014/main" id="{F06C05E9-E5D5-60A6-BEFF-B3A9CD384297}"/>
                </a:ext>
              </a:extLst>
            </p:cNvPr>
            <p:cNvSpPr txBox="1"/>
            <p:nvPr/>
          </p:nvSpPr>
          <p:spPr>
            <a:xfrm>
              <a:off x="17031" y="-9525"/>
              <a:ext cx="5347414" cy="911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endParaRPr lang="nl-NL" sz="4499" noProof="0" dirty="0">
                <a:solidFill>
                  <a:srgbClr val="D6AE27"/>
                </a:solidFill>
                <a:latin typeface="Poppins" panose="00000500000000000000" pitchFamily="2" charset="0"/>
                <a:ea typeface="Gosha"/>
                <a:cs typeface="Poppins" panose="00000500000000000000" pitchFamily="2" charset="0"/>
                <a:sym typeface="Gosha"/>
              </a:endParaRPr>
            </a:p>
          </p:txBody>
        </p:sp>
        <p:sp>
          <p:nvSpPr>
            <p:cNvPr id="40" name="TextBox 20">
              <a:extLst>
                <a:ext uri="{FF2B5EF4-FFF2-40B4-BE49-F238E27FC236}">
                  <a16:creationId xmlns:a16="http://schemas.microsoft.com/office/drawing/2014/main" id="{0C3A04FF-96C3-E981-016B-151AD82EBD1A}"/>
                </a:ext>
              </a:extLst>
            </p:cNvPr>
            <p:cNvSpPr txBox="1"/>
            <p:nvPr/>
          </p:nvSpPr>
          <p:spPr>
            <a:xfrm>
              <a:off x="0" y="1387626"/>
              <a:ext cx="5347414" cy="560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79"/>
                </a:lnSpc>
                <a:spcBef>
                  <a:spcPct val="0"/>
                </a:spcBef>
              </a:pPr>
              <a:r>
                <a:rPr lang="nl-NL" sz="2599" b="1" noProof="0" dirty="0">
                  <a:solidFill>
                    <a:srgbClr val="191935"/>
                  </a:solidFill>
                  <a:latin typeface="Poppins" panose="00000500000000000000" pitchFamily="2" charset="0"/>
                  <a:ea typeface="ITC Franklin Gothic LT Semi-Bold"/>
                  <a:cs typeface="Poppins" panose="00000500000000000000" pitchFamily="2" charset="0"/>
                  <a:sym typeface="ITC Franklin Gothic LT Semi-Bold"/>
                </a:rPr>
                <a:t>Voorkeuren</a:t>
              </a:r>
            </a:p>
          </p:txBody>
        </p:sp>
        <p:sp>
          <p:nvSpPr>
            <p:cNvPr id="41" name="TextBox 21">
              <a:extLst>
                <a:ext uri="{FF2B5EF4-FFF2-40B4-BE49-F238E27FC236}">
                  <a16:creationId xmlns:a16="http://schemas.microsoft.com/office/drawing/2014/main" id="{20CE8E6A-4D93-02F9-A6F3-6D437F6AB4F9}"/>
                </a:ext>
              </a:extLst>
            </p:cNvPr>
            <p:cNvSpPr txBox="1"/>
            <p:nvPr/>
          </p:nvSpPr>
          <p:spPr>
            <a:xfrm>
              <a:off x="0" y="2415089"/>
              <a:ext cx="5347414" cy="1831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730"/>
                </a:lnSpc>
                <a:buFont typeface="Arial"/>
                <a:buChar char="•"/>
              </a:pPr>
              <a:r>
                <a:rPr lang="nl-NL" sz="2100" noProof="0" dirty="0">
                  <a:solidFill>
                    <a:srgbClr val="191935"/>
                  </a:solidFill>
                  <a:latin typeface="Poppins" panose="00000500000000000000" pitchFamily="2" charset="0"/>
                  <a:ea typeface="ITC Franklin Gothic LT"/>
                  <a:cs typeface="Poppins" panose="00000500000000000000" pitchFamily="2" charset="0"/>
                  <a:sym typeface="ITC Franklin Gothic LT"/>
                </a:rPr>
                <a:t>{{voorkeur_1}}</a:t>
              </a:r>
            </a:p>
            <a:p>
              <a:pPr marL="453390" lvl="1" indent="-226695" algn="l">
                <a:lnSpc>
                  <a:spcPts val="2730"/>
                </a:lnSpc>
                <a:buFont typeface="Arial"/>
                <a:buChar char="•"/>
              </a:pPr>
              <a:r>
                <a:rPr lang="nl-NL" sz="2100" dirty="0">
                  <a:solidFill>
                    <a:srgbClr val="191935"/>
                  </a:solidFill>
                  <a:latin typeface="Poppins" panose="00000500000000000000" pitchFamily="2" charset="0"/>
                  <a:ea typeface="ITC Franklin Gothic LT"/>
                  <a:cs typeface="Poppins" panose="00000500000000000000" pitchFamily="2" charset="0"/>
                  <a:sym typeface="ITC Franklin Gothic LT"/>
                </a:rPr>
                <a:t>{{voorkeur_2}}</a:t>
              </a:r>
            </a:p>
            <a:p>
              <a:pPr marL="453390" lvl="1" indent="-226695" algn="l">
                <a:lnSpc>
                  <a:spcPts val="2730"/>
                </a:lnSpc>
                <a:buFont typeface="Arial"/>
                <a:buChar char="•"/>
              </a:pPr>
              <a:r>
                <a:rPr lang="nl-NL" sz="2100" noProof="0" dirty="0">
                  <a:solidFill>
                    <a:srgbClr val="191935"/>
                  </a:solidFill>
                  <a:latin typeface="Poppins" panose="00000500000000000000" pitchFamily="2" charset="0"/>
                  <a:ea typeface="ITC Franklin Gothic LT"/>
                  <a:cs typeface="Poppins" panose="00000500000000000000" pitchFamily="2" charset="0"/>
                  <a:sym typeface="ITC Franklin Gothic LT"/>
                </a:rPr>
                <a:t>{{voorkeur_3}}</a:t>
              </a:r>
            </a:p>
            <a:p>
              <a:pPr algn="l">
                <a:lnSpc>
                  <a:spcPts val="2730"/>
                </a:lnSpc>
              </a:pPr>
              <a:r>
                <a:t/>
              </a:r>
              <a:endParaRPr lang="nl-NL" sz="2100" noProof="0" dirty="0">
                <a:solidFill>
                  <a:srgbClr val="191935"/>
                </a:solidFill>
                <a:latin typeface="Poppins" panose="00000500000000000000" pitchFamily="2" charset="0"/>
                <a:ea typeface="ITC Franklin Gothic LT"/>
                <a:cs typeface="Poppins" panose="00000500000000000000" pitchFamily="2" charset="0"/>
                <a:sym typeface="ITC Franklin Gothic L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8910291" y="-1800387"/>
            <a:ext cx="12019385" cy="7408312"/>
          </a:xfrm>
          <a:custGeom>
            <a:avLst/>
            <a:gdLst/>
            <a:ahLst/>
            <a:cxnLst/>
            <a:rect l="l" t="t" r="r" b="b"/>
            <a:pathLst>
              <a:path w="12019385" h="7408312">
                <a:moveTo>
                  <a:pt x="0" y="0"/>
                </a:moveTo>
                <a:lnTo>
                  <a:pt x="12019385" y="0"/>
                </a:lnTo>
                <a:lnTo>
                  <a:pt x="12019385" y="7408312"/>
                </a:lnTo>
                <a:lnTo>
                  <a:pt x="0" y="74083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nl-NL" noProof="0" dirty="0"/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D645159C-A62B-19CD-461F-B14ECEB27279}"/>
              </a:ext>
            </a:extLst>
          </p:cNvPr>
          <p:cNvSpPr txBox="1"/>
          <p:nvPr/>
        </p:nvSpPr>
        <p:spPr>
          <a:xfrm>
            <a:off x="727550" y="750924"/>
            <a:ext cx="7623267" cy="2362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30"/>
              </a:lnSpc>
            </a:pPr>
            <a:r>
              <a:rPr lang="nl-NL" sz="7300" spc="-146" noProof="0" dirty="0">
                <a:solidFill>
                  <a:srgbClr val="191935"/>
                </a:solidFill>
                <a:latin typeface="Poppins" panose="00000500000000000000" pitchFamily="2" charset="0"/>
                <a:ea typeface="Gosha"/>
                <a:cs typeface="Poppins" panose="00000500000000000000" pitchFamily="2" charset="0"/>
                <a:sym typeface="Gosha"/>
              </a:rPr>
              <a:t>DOELGROEP</a:t>
            </a:r>
          </a:p>
          <a:p>
            <a:pPr marL="0" lvl="0" indent="0" algn="l">
              <a:lnSpc>
                <a:spcPts val="10230"/>
              </a:lnSpc>
            </a:pPr>
            <a:r>
              <a:rPr lang="nl-NL" sz="9300" spc="-186" noProof="0" dirty="0">
                <a:solidFill>
                  <a:srgbClr val="191935"/>
                </a:solidFill>
                <a:latin typeface="Poppins" panose="00000500000000000000" pitchFamily="2" charset="0"/>
                <a:ea typeface="Gosha"/>
                <a:cs typeface="Poppins" panose="00000500000000000000" pitchFamily="2" charset="0"/>
                <a:sym typeface="Gosha"/>
              </a:rPr>
              <a:t>ANALYSE</a:t>
            </a:r>
          </a:p>
        </p:txBody>
      </p:sp>
      <p:grpSp>
        <p:nvGrpSpPr>
          <p:cNvPr id="15" name="Group 4">
            <a:extLst>
              <a:ext uri="{FF2B5EF4-FFF2-40B4-BE49-F238E27FC236}">
                <a16:creationId xmlns:a16="http://schemas.microsoft.com/office/drawing/2014/main" id="{5B7C54FD-DCB1-A61B-3EE2-1ABB9D6429CA}"/>
              </a:ext>
            </a:extLst>
          </p:cNvPr>
          <p:cNvGrpSpPr/>
          <p:nvPr/>
        </p:nvGrpSpPr>
        <p:grpSpPr>
          <a:xfrm>
            <a:off x="9315450" y="950782"/>
            <a:ext cx="7943850" cy="4767899"/>
            <a:chOff x="0" y="0"/>
            <a:chExt cx="6350000" cy="3811270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5025AEEC-843D-D665-3F23-281132A87ED4}"/>
                </a:ext>
              </a:extLst>
            </p:cNvPr>
            <p:cNvSpPr/>
            <p:nvPr/>
          </p:nvSpPr>
          <p:spPr>
            <a:xfrm>
              <a:off x="0" y="0"/>
              <a:ext cx="6350000" cy="3811270"/>
            </a:xfrm>
            <a:custGeom>
              <a:avLst/>
              <a:gdLst/>
              <a:ahLst/>
              <a:cxnLst/>
              <a:rect l="l" t="t" r="r" b="b"/>
              <a:pathLst>
                <a:path w="6350000" h="3811270">
                  <a:moveTo>
                    <a:pt x="1648460" y="0"/>
                  </a:moveTo>
                  <a:lnTo>
                    <a:pt x="5812790" y="0"/>
                  </a:lnTo>
                  <a:cubicBezTo>
                    <a:pt x="6109970" y="0"/>
                    <a:pt x="6350000" y="240030"/>
                    <a:pt x="6350000" y="537210"/>
                  </a:cubicBezTo>
                  <a:lnTo>
                    <a:pt x="6350000" y="2466340"/>
                  </a:lnTo>
                  <a:cubicBezTo>
                    <a:pt x="6350000" y="2763520"/>
                    <a:pt x="6109970" y="3003550"/>
                    <a:pt x="5812790" y="3003550"/>
                  </a:cubicBezTo>
                  <a:lnTo>
                    <a:pt x="4751070" y="3003550"/>
                  </a:lnTo>
                  <a:cubicBezTo>
                    <a:pt x="4587240" y="3003550"/>
                    <a:pt x="4431030" y="3078480"/>
                    <a:pt x="4329430" y="3208020"/>
                  </a:cubicBezTo>
                  <a:lnTo>
                    <a:pt x="4013200" y="3606800"/>
                  </a:lnTo>
                  <a:cubicBezTo>
                    <a:pt x="3911600" y="3735070"/>
                    <a:pt x="3756660" y="3811270"/>
                    <a:pt x="3591560" y="3811270"/>
                  </a:cubicBezTo>
                  <a:lnTo>
                    <a:pt x="537210" y="3811270"/>
                  </a:lnTo>
                  <a:cubicBezTo>
                    <a:pt x="240030" y="3811270"/>
                    <a:pt x="0" y="3571240"/>
                    <a:pt x="0" y="3274060"/>
                  </a:cubicBezTo>
                  <a:lnTo>
                    <a:pt x="0" y="1375410"/>
                  </a:lnTo>
                  <a:cubicBezTo>
                    <a:pt x="0" y="1206500"/>
                    <a:pt x="78740" y="1047750"/>
                    <a:pt x="213360" y="946150"/>
                  </a:cubicBezTo>
                  <a:lnTo>
                    <a:pt x="1324610" y="107950"/>
                  </a:lnTo>
                  <a:cubicBezTo>
                    <a:pt x="1417320" y="38100"/>
                    <a:pt x="1531620" y="0"/>
                    <a:pt x="1648460" y="0"/>
                  </a:cubicBezTo>
                  <a:close/>
                </a:path>
              </a:pathLst>
            </a:custGeom>
            <a:blipFill>
              <a:blip r:embed="rId3"/>
              <a:stretch>
                <a:fillRect t="-5587" b="-5587"/>
              </a:stretch>
            </a:blipFill>
          </p:spPr>
          <p:txBody>
            <a:bodyPr/>
            <a:lstStyle/>
            <a:p>
              <a:endParaRPr lang="nl-NL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7" name="Group 6">
            <a:extLst>
              <a:ext uri="{FF2B5EF4-FFF2-40B4-BE49-F238E27FC236}">
                <a16:creationId xmlns:a16="http://schemas.microsoft.com/office/drawing/2014/main" id="{D0D5608F-D62D-43D7-93D8-AF4C45BFA7CC}"/>
              </a:ext>
            </a:extLst>
          </p:cNvPr>
          <p:cNvGrpSpPr/>
          <p:nvPr/>
        </p:nvGrpSpPr>
        <p:grpSpPr>
          <a:xfrm>
            <a:off x="8518295" y="6954698"/>
            <a:ext cx="9538159" cy="2250855"/>
            <a:chOff x="0" y="104922"/>
            <a:chExt cx="12717546" cy="3001140"/>
          </a:xfrm>
        </p:grpSpPr>
        <p:sp>
          <p:nvSpPr>
            <p:cNvPr id="18" name="TextBox 7">
              <a:extLst>
                <a:ext uri="{FF2B5EF4-FFF2-40B4-BE49-F238E27FC236}">
                  <a16:creationId xmlns:a16="http://schemas.microsoft.com/office/drawing/2014/main" id="{69A50720-BAEE-5D29-8AC5-82DA24F17420}"/>
                </a:ext>
              </a:extLst>
            </p:cNvPr>
            <p:cNvSpPr txBox="1"/>
            <p:nvPr/>
          </p:nvSpPr>
          <p:spPr>
            <a:xfrm>
              <a:off x="0" y="104922"/>
              <a:ext cx="12717546" cy="2018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2237"/>
                </a:lnSpc>
              </a:pPr>
              <a:r>
                <a:rPr lang="nl-NL" sz="9600" b="1" spc="-222" noProof="0" dirty="0">
                  <a:solidFill>
                    <a:srgbClr val="D6AE27"/>
                  </a:solidFill>
                  <a:latin typeface="Poppins" panose="00000500000000000000" pitchFamily="2" charset="0"/>
                  <a:ea typeface="Gosha Bold"/>
                  <a:cs typeface="Poppins" panose="00000500000000000000" pitchFamily="2" charset="0"/>
                  <a:sym typeface="Gosha Bold"/>
                </a:rPr>
                <a:t>± {{doelgroepgrootte}}</a:t>
              </a:r>
              <a:r>
                <a:rPr lang="nl-NL" sz="9600" b="1" spc="-222" dirty="0">
                  <a:solidFill>
                    <a:srgbClr val="D6AE27"/>
                  </a:solidFill>
                  <a:latin typeface="Poppins" panose="00000500000000000000" pitchFamily="2" charset="0"/>
                  <a:ea typeface="Gosha Bold"/>
                  <a:cs typeface="Poppins" panose="00000500000000000000" pitchFamily="2" charset="0"/>
                  <a:sym typeface="Gosha Bold"/>
                </a:rPr>
                <a:t/>
              </a:r>
              <a:endParaRPr lang="nl-NL" sz="9600" b="1" spc="-222" noProof="0" dirty="0">
                <a:solidFill>
                  <a:srgbClr val="D6AE27"/>
                </a:solidFill>
                <a:latin typeface="Poppins" panose="00000500000000000000" pitchFamily="2" charset="0"/>
                <a:ea typeface="Gosha Bold"/>
                <a:cs typeface="Poppins" panose="00000500000000000000" pitchFamily="2" charset="0"/>
                <a:sym typeface="Gosha Bold"/>
              </a:endParaRPr>
            </a:p>
          </p:txBody>
        </p:sp>
        <p:sp>
          <p:nvSpPr>
            <p:cNvPr id="19" name="TextBox 8">
              <a:extLst>
                <a:ext uri="{FF2B5EF4-FFF2-40B4-BE49-F238E27FC236}">
                  <a16:creationId xmlns:a16="http://schemas.microsoft.com/office/drawing/2014/main" id="{1BF76091-7B45-1E7B-6220-D7EE9D041DD6}"/>
                </a:ext>
              </a:extLst>
            </p:cNvPr>
            <p:cNvSpPr txBox="1"/>
            <p:nvPr/>
          </p:nvSpPr>
          <p:spPr>
            <a:xfrm>
              <a:off x="0" y="2503846"/>
              <a:ext cx="11425563" cy="602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60"/>
                </a:lnSpc>
                <a:spcBef>
                  <a:spcPct val="0"/>
                </a:spcBef>
              </a:pPr>
              <a:r>
                <a:rPr lang="nl-NL" sz="2400" b="1" noProof="0" dirty="0">
                  <a:solidFill>
                    <a:srgbClr val="191935"/>
                  </a:solidFill>
                  <a:latin typeface="Poppins" panose="00000500000000000000" pitchFamily="2" charset="0"/>
                  <a:ea typeface="ITC Franklin Gothic LT Semi-Bold"/>
                  <a:cs typeface="Poppins" panose="00000500000000000000" pitchFamily="2" charset="0"/>
                  <a:sym typeface="ITC Franklin Gothic LT Semi-Bold"/>
                </a:rPr>
                <a:t>Verwachte doelgroep grootte </a:t>
              </a:r>
            </a:p>
          </p:txBody>
        </p:sp>
      </p:grpSp>
      <p:sp>
        <p:nvSpPr>
          <p:cNvPr id="20" name="TextBox 9">
            <a:extLst>
              <a:ext uri="{FF2B5EF4-FFF2-40B4-BE49-F238E27FC236}">
                <a16:creationId xmlns:a16="http://schemas.microsoft.com/office/drawing/2014/main" id="{0AFD6F8E-510D-A4FD-8DD9-71758B4A7458}"/>
              </a:ext>
            </a:extLst>
          </p:cNvPr>
          <p:cNvSpPr txBox="1"/>
          <p:nvPr/>
        </p:nvSpPr>
        <p:spPr>
          <a:xfrm>
            <a:off x="727550" y="4831406"/>
            <a:ext cx="6189686" cy="117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7364" lvl="1" indent="-253682" algn="l">
              <a:lnSpc>
                <a:spcPts val="3054"/>
              </a:lnSpc>
              <a:buFont typeface="Arial"/>
              <a:buChar char="•"/>
            </a:pPr>
            <a:r>
              <a:rPr lang="nl-NL" sz="2349" noProof="0" dirty="0">
                <a:solidFill>
                  <a:srgbClr val="191935"/>
                </a:solidFill>
                <a:latin typeface="Poppins" panose="00000500000000000000" pitchFamily="2" charset="0"/>
                <a:ea typeface="ITC Franklin Gothic LT"/>
                <a:cs typeface="Poppins" panose="00000500000000000000" pitchFamily="2" charset="0"/>
                <a:sym typeface="ITC Franklin Gothic LT"/>
              </a:rPr>
              <a:t>{{pull_1}}</a:t>
            </a:r>
          </a:p>
          <a:p>
            <a:pPr marL="507364" lvl="1" indent="-253682" algn="l">
              <a:lnSpc>
                <a:spcPts val="3054"/>
              </a:lnSpc>
              <a:buFont typeface="Arial"/>
              <a:buChar char="•"/>
            </a:pPr>
            <a:r>
              <a:rPr lang="nl-NL" sz="2349" noProof="0" dirty="0">
                <a:solidFill>
                  <a:srgbClr val="191935"/>
                </a:solidFill>
                <a:latin typeface="Poppins" panose="00000500000000000000" pitchFamily="2" charset="0"/>
                <a:ea typeface="ITC Franklin Gothic LT"/>
                <a:cs typeface="Poppins" panose="00000500000000000000" pitchFamily="2" charset="0"/>
                <a:sym typeface="ITC Franklin Gothic LT"/>
              </a:rPr>
              <a:t>{{pull_2}}</a:t>
            </a:r>
          </a:p>
          <a:p>
            <a:pPr marL="507364" lvl="1" indent="-253682" algn="l">
              <a:lnSpc>
                <a:spcPts val="3054"/>
              </a:lnSpc>
              <a:buFont typeface="Arial"/>
              <a:buChar char="•"/>
            </a:pPr>
            <a:r>
              <a:rPr lang="nl-NL" sz="2349" dirty="0">
                <a:solidFill>
                  <a:srgbClr val="191935"/>
                </a:solidFill>
                <a:latin typeface="Poppins" panose="00000500000000000000" pitchFamily="2" charset="0"/>
                <a:ea typeface="ITC Franklin Gothic LT"/>
                <a:cs typeface="Poppins" panose="00000500000000000000" pitchFamily="2" charset="0"/>
                <a:sym typeface="ITC Franklin Gothic LT"/>
              </a:rPr>
              <a:t>{{pull_3}}</a:t>
            </a:r>
            <a:endParaRPr lang="nl-NL" sz="2349" noProof="0" dirty="0">
              <a:solidFill>
                <a:srgbClr val="191935"/>
              </a:solidFill>
              <a:latin typeface="Poppins" panose="00000500000000000000" pitchFamily="2" charset="0"/>
              <a:ea typeface="ITC Franklin Gothic LT"/>
              <a:cs typeface="Poppins" panose="00000500000000000000" pitchFamily="2" charset="0"/>
              <a:sym typeface="ITC Franklin Gothic LT"/>
            </a:endParaRP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8D7721FE-22A0-E7AA-41D8-7173EAC570B3}"/>
              </a:ext>
            </a:extLst>
          </p:cNvPr>
          <p:cNvSpPr txBox="1"/>
          <p:nvPr/>
        </p:nvSpPr>
        <p:spPr>
          <a:xfrm>
            <a:off x="727550" y="4022965"/>
            <a:ext cx="7702538" cy="420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80"/>
              </a:lnSpc>
              <a:spcBef>
                <a:spcPct val="0"/>
              </a:spcBef>
            </a:pPr>
            <a:r>
              <a:rPr lang="nl-NL" sz="2600" b="1" noProof="0" dirty="0">
                <a:solidFill>
                  <a:srgbClr val="191935"/>
                </a:solidFill>
                <a:latin typeface="Poppins" panose="00000500000000000000" pitchFamily="2" charset="0"/>
                <a:ea typeface="ITC Franklin Gothic LT Semi-Bold"/>
                <a:cs typeface="Poppins" panose="00000500000000000000" pitchFamily="2" charset="0"/>
                <a:sym typeface="ITC Franklin Gothic LT Semi-Bold"/>
              </a:rPr>
              <a:t>Belangrijkste pullfactoren</a:t>
            </a: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F13B82E9-E1CE-16DA-F8B2-D539A488522C}"/>
              </a:ext>
            </a:extLst>
          </p:cNvPr>
          <p:cNvSpPr txBox="1"/>
          <p:nvPr/>
        </p:nvSpPr>
        <p:spPr>
          <a:xfrm>
            <a:off x="648280" y="6799807"/>
            <a:ext cx="7702538" cy="420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80"/>
              </a:lnSpc>
              <a:spcBef>
                <a:spcPct val="0"/>
              </a:spcBef>
            </a:pPr>
            <a:r>
              <a:rPr lang="nl-NL" sz="2600" b="1" noProof="0" dirty="0">
                <a:solidFill>
                  <a:srgbClr val="191935"/>
                </a:solidFill>
                <a:latin typeface="Poppins" panose="00000500000000000000" pitchFamily="2" charset="0"/>
                <a:ea typeface="ITC Franklin Gothic LT Semi-Bold"/>
                <a:cs typeface="Poppins" panose="00000500000000000000" pitchFamily="2" charset="0"/>
                <a:sym typeface="ITC Franklin Gothic LT Semi-Bold"/>
              </a:rPr>
              <a:t>Belangrijkste arbeidsvoorwaarden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EF7682DE-FD60-F62E-FC06-3D449F16E8C0}"/>
              </a:ext>
            </a:extLst>
          </p:cNvPr>
          <p:cNvSpPr txBox="1"/>
          <p:nvPr/>
        </p:nvSpPr>
        <p:spPr>
          <a:xfrm>
            <a:off x="727550" y="7728878"/>
            <a:ext cx="6663850" cy="11775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7364" lvl="1" indent="-253682" algn="l">
              <a:lnSpc>
                <a:spcPts val="3054"/>
              </a:lnSpc>
              <a:buFont typeface="Arial"/>
              <a:buChar char="•"/>
            </a:pPr>
            <a:r>
              <a:rPr lang="nl-NL" sz="2349" noProof="0" dirty="0">
                <a:solidFill>
                  <a:srgbClr val="191935"/>
                </a:solidFill>
                <a:latin typeface="Poppins" panose="00000500000000000000" pitchFamily="2" charset="0"/>
                <a:ea typeface="ITC Franklin Gothic LT"/>
                <a:cs typeface="Poppins" panose="00000500000000000000" pitchFamily="2" charset="0"/>
                <a:sym typeface="ITC Franklin Gothic LT"/>
              </a:rPr>
              <a:t>{{voorwaarde_1}}</a:t>
            </a:r>
          </a:p>
          <a:p>
            <a:pPr marL="507364" lvl="1" indent="-253682">
              <a:lnSpc>
                <a:spcPts val="3054"/>
              </a:lnSpc>
              <a:buFont typeface="Arial"/>
              <a:buChar char="•"/>
            </a:pPr>
            <a:r>
              <a:rPr lang="nl-NL" sz="2349" dirty="0">
                <a:solidFill>
                  <a:srgbClr val="191935"/>
                </a:solidFill>
                <a:latin typeface="Poppins" panose="00000500000000000000" pitchFamily="2" charset="0"/>
                <a:ea typeface="ITC Franklin Gothic LT"/>
                <a:cs typeface="Poppins" panose="00000500000000000000" pitchFamily="2" charset="0"/>
                <a:sym typeface="ITC Franklin Gothic LT"/>
              </a:rPr>
              <a:t>{{voorwaarde_2}}</a:t>
            </a:r>
          </a:p>
          <a:p>
            <a:pPr marL="507364" lvl="1" indent="-253682">
              <a:lnSpc>
                <a:spcPts val="3054"/>
              </a:lnSpc>
              <a:buFont typeface="Arial"/>
              <a:buChar char="•"/>
            </a:pPr>
            <a:r>
              <a:rPr lang="nl-NL" sz="2349" dirty="0">
                <a:solidFill>
                  <a:srgbClr val="191935"/>
                </a:solidFill>
                <a:latin typeface="Poppins" panose="00000500000000000000" pitchFamily="2" charset="0"/>
                <a:ea typeface="ITC Franklin Gothic LT"/>
                <a:cs typeface="Poppins" panose="00000500000000000000" pitchFamily="2" charset="0"/>
                <a:sym typeface="ITC Franklin Gothic LT"/>
              </a:rPr>
              <a:t>{{voorwaarde_3}}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610516"/>
            <a:chOff x="0" y="0"/>
            <a:chExt cx="4816593" cy="9509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50918"/>
            </a:xfrm>
            <a:custGeom>
              <a:avLst/>
              <a:gdLst/>
              <a:ahLst/>
              <a:cxnLst/>
              <a:rect l="l" t="t" r="r" b="b"/>
              <a:pathLst>
                <a:path w="4816592" h="950918">
                  <a:moveTo>
                    <a:pt x="0" y="0"/>
                  </a:moveTo>
                  <a:lnTo>
                    <a:pt x="4816592" y="0"/>
                  </a:lnTo>
                  <a:lnTo>
                    <a:pt x="4816592" y="950918"/>
                  </a:lnTo>
                  <a:lnTo>
                    <a:pt x="0" y="9509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nl-NL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816593" cy="1017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 lang="nl-NL" noProof="0"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3610516"/>
            <a:ext cx="18288000" cy="6676484"/>
            <a:chOff x="0" y="0"/>
            <a:chExt cx="24384000" cy="8901978"/>
          </a:xfrm>
        </p:grpSpPr>
        <p:sp>
          <p:nvSpPr>
            <p:cNvPr id="6" name="AutoShape 6"/>
            <p:cNvSpPr/>
            <p:nvPr/>
          </p:nvSpPr>
          <p:spPr>
            <a:xfrm>
              <a:off x="12192000" y="0"/>
              <a:ext cx="12192000" cy="8901978"/>
            </a:xfrm>
            <a:prstGeom prst="rect">
              <a:avLst/>
            </a:prstGeom>
            <a:solidFill>
              <a:srgbClr val="FFFFFF">
                <a:alpha val="94902"/>
              </a:srgbClr>
            </a:solidFill>
          </p:spPr>
          <p:txBody>
            <a:bodyPr/>
            <a:lstStyle/>
            <a:p>
              <a:endParaRPr lang="nl-NL" noProof="0" dirty="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0"/>
              <a:ext cx="12192000" cy="8901978"/>
            </a:xfrm>
            <a:prstGeom prst="rect">
              <a:avLst/>
            </a:prstGeom>
            <a:solidFill>
              <a:srgbClr val="FFFFFF">
                <a:alpha val="94902"/>
              </a:srgbClr>
            </a:solidFill>
          </p:spPr>
          <p:txBody>
            <a:bodyPr/>
            <a:lstStyle/>
            <a:p>
              <a:endParaRPr lang="nl-NL" noProof="0" dirty="0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6912393" y="7950626"/>
            <a:ext cx="12019385" cy="7408312"/>
          </a:xfrm>
          <a:custGeom>
            <a:avLst/>
            <a:gdLst/>
            <a:ahLst/>
            <a:cxnLst/>
            <a:rect l="l" t="t" r="r" b="b"/>
            <a:pathLst>
              <a:path w="12019385" h="7408312">
                <a:moveTo>
                  <a:pt x="0" y="0"/>
                </a:moveTo>
                <a:lnTo>
                  <a:pt x="12019385" y="0"/>
                </a:lnTo>
                <a:lnTo>
                  <a:pt x="12019385" y="7408312"/>
                </a:lnTo>
                <a:lnTo>
                  <a:pt x="0" y="74083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nl-NL" noProof="0" dirty="0"/>
          </a:p>
        </p:txBody>
      </p:sp>
      <p:sp>
        <p:nvSpPr>
          <p:cNvPr id="15" name="Freeform 15"/>
          <p:cNvSpPr/>
          <p:nvPr/>
        </p:nvSpPr>
        <p:spPr>
          <a:xfrm>
            <a:off x="15976294" y="194545"/>
            <a:ext cx="2062583" cy="566002"/>
          </a:xfrm>
          <a:custGeom>
            <a:avLst/>
            <a:gdLst/>
            <a:ahLst/>
            <a:cxnLst/>
            <a:rect l="l" t="t" r="r" b="b"/>
            <a:pathLst>
              <a:path w="2062583" h="566002">
                <a:moveTo>
                  <a:pt x="0" y="0"/>
                </a:moveTo>
                <a:lnTo>
                  <a:pt x="2062583" y="0"/>
                </a:lnTo>
                <a:lnTo>
                  <a:pt x="2062583" y="566002"/>
                </a:lnTo>
                <a:lnTo>
                  <a:pt x="0" y="566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nl-NL" noProof="0" dirty="0"/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1A56D4A0-3115-6963-9873-FF36C874178D}"/>
              </a:ext>
            </a:extLst>
          </p:cNvPr>
          <p:cNvSpPr txBox="1"/>
          <p:nvPr/>
        </p:nvSpPr>
        <p:spPr>
          <a:xfrm>
            <a:off x="3053026" y="3964394"/>
            <a:ext cx="3037944" cy="807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600"/>
              </a:lnSpc>
            </a:pPr>
            <a:r>
              <a:rPr lang="nl-NL" sz="4800" spc="-120" noProof="0" dirty="0">
                <a:solidFill>
                  <a:srgbClr val="191935"/>
                </a:solidFill>
                <a:latin typeface="Poppins" panose="00000500000000000000" pitchFamily="2" charset="0"/>
                <a:ea typeface="Gosha"/>
                <a:cs typeface="Poppins" panose="00000500000000000000" pitchFamily="2" charset="0"/>
                <a:sym typeface="Gosha"/>
              </a:rPr>
              <a:t>Geslacht</a:t>
            </a:r>
          </a:p>
        </p:txBody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0E69A602-3BE9-A70F-34EB-ECF532170436}"/>
              </a:ext>
            </a:extLst>
          </p:cNvPr>
          <p:cNvSpPr txBox="1"/>
          <p:nvPr/>
        </p:nvSpPr>
        <p:spPr>
          <a:xfrm>
            <a:off x="1876997" y="6213646"/>
            <a:ext cx="671204" cy="395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4"/>
              </a:lnSpc>
            </a:pPr>
            <a:r>
              <a:rPr lang="nl-NL" sz="2449" dirty="0">
                <a:solidFill>
                  <a:srgbClr val="191935"/>
                </a:solidFill>
                <a:latin typeface="Poppins" panose="00000500000000000000" pitchFamily="2" charset="0"/>
                <a:ea typeface="ITC Franklin Gothic LT"/>
                <a:cs typeface="Poppins" panose="00000500000000000000" pitchFamily="2" charset="0"/>
                <a:sym typeface="ITC Franklin Gothic LT"/>
              </a:rPr>
              <a:t>{{geslacht_man}}</a:t>
            </a:r>
            <a:r>
              <a:rPr lang="nl-NL" sz="2449" noProof="0" dirty="0">
                <a:solidFill>
                  <a:srgbClr val="191935"/>
                </a:solidFill>
                <a:latin typeface="Poppins" panose="00000500000000000000" pitchFamily="2" charset="0"/>
                <a:ea typeface="ITC Franklin Gothic LT"/>
                <a:cs typeface="Poppins" panose="00000500000000000000" pitchFamily="2" charset="0"/>
                <a:sym typeface="ITC Franklin Gothic LT"/>
              </a:rPr>
              <a:t/>
            </a:r>
          </a:p>
        </p:txBody>
      </p:sp>
      <p:sp>
        <p:nvSpPr>
          <p:cNvPr id="21" name="Freeform 10">
            <a:extLst>
              <a:ext uri="{FF2B5EF4-FFF2-40B4-BE49-F238E27FC236}">
                <a16:creationId xmlns:a16="http://schemas.microsoft.com/office/drawing/2014/main" id="{2AC5AD6C-CAF4-A47B-6F99-93E9D567C618}"/>
              </a:ext>
            </a:extLst>
          </p:cNvPr>
          <p:cNvSpPr/>
          <p:nvPr/>
        </p:nvSpPr>
        <p:spPr>
          <a:xfrm>
            <a:off x="3053026" y="5143500"/>
            <a:ext cx="3037944" cy="3522254"/>
          </a:xfrm>
          <a:custGeom>
            <a:avLst/>
            <a:gdLst/>
            <a:ahLst/>
            <a:cxnLst/>
            <a:rect l="l" t="t" r="r" b="b"/>
            <a:pathLst>
              <a:path w="3037944" h="3522254">
                <a:moveTo>
                  <a:pt x="0" y="0"/>
                </a:moveTo>
                <a:lnTo>
                  <a:pt x="3037944" y="0"/>
                </a:lnTo>
                <a:lnTo>
                  <a:pt x="3037944" y="3522254"/>
                </a:lnTo>
                <a:lnTo>
                  <a:pt x="0" y="3522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DE140D2E-507C-1B63-B00C-9AA8D1611046}"/>
              </a:ext>
            </a:extLst>
          </p:cNvPr>
          <p:cNvSpPr txBox="1"/>
          <p:nvPr/>
        </p:nvSpPr>
        <p:spPr>
          <a:xfrm>
            <a:off x="10025330" y="4099046"/>
            <a:ext cx="7472270" cy="1281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170"/>
              </a:lnSpc>
            </a:pPr>
            <a:r>
              <a:rPr lang="nl-NL" sz="4800" spc="-94" noProof="0" dirty="0">
                <a:solidFill>
                  <a:srgbClr val="191935"/>
                </a:solidFill>
                <a:latin typeface="Poppins" panose="00000500000000000000" pitchFamily="2" charset="0"/>
                <a:ea typeface="Gosha"/>
                <a:cs typeface="Poppins" panose="00000500000000000000" pitchFamily="2" charset="0"/>
                <a:sym typeface="Gosha"/>
              </a:rPr>
              <a:t>Leeftijdsverdeling </a:t>
            </a:r>
          </a:p>
          <a:p>
            <a:pPr marL="0" lvl="0" indent="0" algn="ctr">
              <a:lnSpc>
                <a:spcPts val="5170"/>
              </a:lnSpc>
            </a:pPr>
            <a:r>
              <a:rPr lang="nl-NL" sz="2400" spc="-94" noProof="0" dirty="0">
                <a:solidFill>
                  <a:srgbClr val="191935"/>
                </a:solidFill>
                <a:latin typeface="Poppins" panose="00000500000000000000" pitchFamily="2" charset="0"/>
                <a:ea typeface="Gosha"/>
                <a:cs typeface="Poppins" panose="00000500000000000000" pitchFamily="2" charset="0"/>
                <a:sym typeface="Gosha"/>
              </a:rPr>
              <a:t>(in jaren)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8D724884-40D9-D693-BCC4-C59E61BBF84C}"/>
              </a:ext>
            </a:extLst>
          </p:cNvPr>
          <p:cNvSpPr txBox="1"/>
          <p:nvPr/>
        </p:nvSpPr>
        <p:spPr>
          <a:xfrm>
            <a:off x="1028700" y="1114425"/>
            <a:ext cx="15113242" cy="143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999"/>
              </a:lnSpc>
            </a:pPr>
            <a:r>
              <a:rPr lang="nl-NL" sz="9999" spc="-199" noProof="0" dirty="0">
                <a:solidFill>
                  <a:srgbClr val="191935"/>
                </a:solidFill>
                <a:latin typeface="Poppins" panose="00000500000000000000" pitchFamily="2" charset="0"/>
                <a:ea typeface="Gosha"/>
                <a:cs typeface="Poppins" panose="00000500000000000000" pitchFamily="2" charset="0"/>
                <a:sym typeface="Gosha"/>
              </a:rPr>
              <a:t>DOELGROEP ANALYSE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08832CBA-3B0B-3278-BC1B-AB4E0AB2B550}"/>
              </a:ext>
            </a:extLst>
          </p:cNvPr>
          <p:cNvSpPr txBox="1"/>
          <p:nvPr/>
        </p:nvSpPr>
        <p:spPr>
          <a:xfrm>
            <a:off x="6595795" y="6213646"/>
            <a:ext cx="671204" cy="395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4"/>
              </a:lnSpc>
            </a:pPr>
            <a:r>
              <a:rPr lang="nl-NL" sz="2449" noProof="0" dirty="0">
                <a:solidFill>
                  <a:srgbClr val="191935"/>
                </a:solidFill>
                <a:latin typeface="Poppins" panose="00000500000000000000" pitchFamily="2" charset="0"/>
                <a:ea typeface="ITC Franklin Gothic LT"/>
                <a:cs typeface="Poppins" panose="00000500000000000000" pitchFamily="2" charset="0"/>
                <a:sym typeface="ITC Franklin Gothic LT"/>
              </a:rPr>
              <a:t>{{geslacht_vrouw}}</a:t>
            </a:r>
          </a:p>
        </p:txBody>
      </p:sp>
      <p:sp>
        <p:nvSpPr>
          <p:cNvPr id="25" name="AutoShape 16">
            <a:extLst>
              <a:ext uri="{FF2B5EF4-FFF2-40B4-BE49-F238E27FC236}">
                <a16:creationId xmlns:a16="http://schemas.microsoft.com/office/drawing/2014/main" id="{1556F786-D95D-7382-5380-B4A4E66C48A6}"/>
              </a:ext>
            </a:extLst>
          </p:cNvPr>
          <p:cNvSpPr/>
          <p:nvPr/>
        </p:nvSpPr>
        <p:spPr>
          <a:xfrm>
            <a:off x="1325880" y="3591466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NL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AutoShape 17">
            <a:extLst>
              <a:ext uri="{FF2B5EF4-FFF2-40B4-BE49-F238E27FC236}">
                <a16:creationId xmlns:a16="http://schemas.microsoft.com/office/drawing/2014/main" id="{68522173-99FE-96D8-FEC2-AA79D984DFB0}"/>
              </a:ext>
            </a:extLst>
          </p:cNvPr>
          <p:cNvSpPr/>
          <p:nvPr/>
        </p:nvSpPr>
        <p:spPr>
          <a:xfrm>
            <a:off x="10515345" y="3591466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NL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AutoShape 18">
            <a:extLst>
              <a:ext uri="{FF2B5EF4-FFF2-40B4-BE49-F238E27FC236}">
                <a16:creationId xmlns:a16="http://schemas.microsoft.com/office/drawing/2014/main" id="{7C0E6BEA-23F0-601F-8ED5-3567D383B30A}"/>
              </a:ext>
            </a:extLst>
          </p:cNvPr>
          <p:cNvSpPr/>
          <p:nvPr/>
        </p:nvSpPr>
        <p:spPr>
          <a:xfrm flipH="1">
            <a:off x="9143998" y="4449709"/>
            <a:ext cx="19049" cy="45606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NL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829800" y="5166360"/>
            <a:ext cx="7452360" cy="3886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0"/>
              <a:t>{{leeftijdsverdeling}}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610516"/>
            <a:chOff x="0" y="0"/>
            <a:chExt cx="4816593" cy="9509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50918"/>
            </a:xfrm>
            <a:custGeom>
              <a:avLst/>
              <a:gdLst/>
              <a:ahLst/>
              <a:cxnLst/>
              <a:rect l="l" t="t" r="r" b="b"/>
              <a:pathLst>
                <a:path w="4816592" h="950918">
                  <a:moveTo>
                    <a:pt x="0" y="0"/>
                  </a:moveTo>
                  <a:lnTo>
                    <a:pt x="4816592" y="0"/>
                  </a:lnTo>
                  <a:lnTo>
                    <a:pt x="4816592" y="950918"/>
                  </a:lnTo>
                  <a:lnTo>
                    <a:pt x="0" y="9509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nl-NL" noProof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816593" cy="1017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 lang="nl-NL" noProof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3009900"/>
            <a:ext cx="18288000" cy="6676484"/>
            <a:chOff x="0" y="0"/>
            <a:chExt cx="24384000" cy="8901978"/>
          </a:xfrm>
        </p:grpSpPr>
        <p:sp>
          <p:nvSpPr>
            <p:cNvPr id="6" name="AutoShape 6"/>
            <p:cNvSpPr/>
            <p:nvPr/>
          </p:nvSpPr>
          <p:spPr>
            <a:xfrm>
              <a:off x="12192000" y="0"/>
              <a:ext cx="12192000" cy="8901978"/>
            </a:xfrm>
            <a:prstGeom prst="rect">
              <a:avLst/>
            </a:prstGeom>
            <a:solidFill>
              <a:srgbClr val="FFFFFF">
                <a:alpha val="94902"/>
              </a:srgbClr>
            </a:solidFill>
          </p:spPr>
          <p:txBody>
            <a:bodyPr/>
            <a:lstStyle/>
            <a:p>
              <a:endParaRPr lang="nl-NL" noProof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0"/>
              <a:ext cx="12192000" cy="8901978"/>
            </a:xfrm>
            <a:prstGeom prst="rect">
              <a:avLst/>
            </a:prstGeom>
            <a:solidFill>
              <a:srgbClr val="FFFFFF">
                <a:alpha val="94902"/>
              </a:srgbClr>
            </a:solidFill>
          </p:spPr>
          <p:txBody>
            <a:bodyPr/>
            <a:lstStyle/>
            <a:p>
              <a:endParaRPr lang="nl-NL" noProof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114425"/>
            <a:ext cx="15113242" cy="1296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10"/>
              </a:lnSpc>
            </a:pPr>
            <a:r>
              <a:rPr lang="nl-NL" sz="9100" spc="-182" noProof="0">
                <a:solidFill>
                  <a:srgbClr val="191935"/>
                </a:solidFill>
                <a:latin typeface="Poppins" panose="00000500000000000000" pitchFamily="2" charset="0"/>
                <a:ea typeface="Gosha"/>
                <a:cs typeface="Poppins" panose="00000500000000000000" pitchFamily="2" charset="0"/>
                <a:sym typeface="Gosha"/>
              </a:rPr>
              <a:t>AFSPRAKEN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099300" y="6037178"/>
            <a:ext cx="5188700" cy="4249822"/>
            <a:chOff x="0" y="0"/>
            <a:chExt cx="7752854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752854" cy="6349937"/>
            </a:xfrm>
            <a:custGeom>
              <a:avLst/>
              <a:gdLst/>
              <a:ahLst/>
              <a:cxnLst/>
              <a:rect l="l" t="t" r="r" b="b"/>
              <a:pathLst>
                <a:path w="7752854" h="6349937">
                  <a:moveTo>
                    <a:pt x="0" y="546100"/>
                  </a:moveTo>
                  <a:lnTo>
                    <a:pt x="0" y="3953510"/>
                  </a:lnTo>
                  <a:cubicBezTo>
                    <a:pt x="0" y="4132580"/>
                    <a:pt x="180117" y="4301490"/>
                    <a:pt x="485532" y="4403090"/>
                  </a:cubicBezTo>
                  <a:lnTo>
                    <a:pt x="5990842" y="6252210"/>
                  </a:lnTo>
                  <a:cubicBezTo>
                    <a:pt x="6734802" y="6502400"/>
                    <a:pt x="7752854" y="6243320"/>
                    <a:pt x="7752854" y="5802630"/>
                  </a:cubicBezTo>
                  <a:lnTo>
                    <a:pt x="7752854" y="546100"/>
                  </a:lnTo>
                  <a:cubicBezTo>
                    <a:pt x="7752854" y="243840"/>
                    <a:pt x="7249049" y="0"/>
                    <a:pt x="6630387" y="0"/>
                  </a:cubicBezTo>
                  <a:lnTo>
                    <a:pt x="1122467" y="0"/>
                  </a:lnTo>
                  <a:cubicBezTo>
                    <a:pt x="503805" y="0"/>
                    <a:pt x="0" y="245110"/>
                    <a:pt x="0" y="546100"/>
                  </a:cubicBezTo>
                  <a:close/>
                </a:path>
              </a:pathLst>
            </a:custGeom>
            <a:blipFill>
              <a:blip r:embed="rId2"/>
              <a:stretch>
                <a:fillRect l="-11372" r="-11372"/>
              </a:stretch>
            </a:blipFill>
          </p:spPr>
          <p:txBody>
            <a:bodyPr/>
            <a:lstStyle/>
            <a:p>
              <a:endParaRPr lang="nl-NL" noProof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16072708" y="156445"/>
            <a:ext cx="2062583" cy="566002"/>
          </a:xfrm>
          <a:custGeom>
            <a:avLst/>
            <a:gdLst/>
            <a:ahLst/>
            <a:cxnLst/>
            <a:rect l="l" t="t" r="r" b="b"/>
            <a:pathLst>
              <a:path w="2062583" h="566002">
                <a:moveTo>
                  <a:pt x="0" y="0"/>
                </a:moveTo>
                <a:lnTo>
                  <a:pt x="2062582" y="0"/>
                </a:lnTo>
                <a:lnTo>
                  <a:pt x="2062582" y="566002"/>
                </a:lnTo>
                <a:lnTo>
                  <a:pt x="0" y="566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nl-NL" noProof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3247166"/>
            <a:ext cx="7403995" cy="2448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nl-NL" sz="2424" noProof="0" dirty="0">
                <a:solidFill>
                  <a:srgbClr val="191935"/>
                </a:solidFill>
                <a:latin typeface="Poppins" panose="00000500000000000000" pitchFamily="2" charset="0"/>
                <a:ea typeface="ITC Franklin Gothic LT"/>
                <a:cs typeface="Poppins" panose="00000500000000000000" pitchFamily="2" charset="0"/>
                <a:sym typeface="ITC Franklin Gothic LT"/>
              </a:rPr>
              <a:t>{{afspraak_1}}</a:t>
            </a:r>
          </a:p>
          <a:p>
            <a:pPr algn="l">
              <a:lnSpc>
                <a:spcPts val="3879"/>
              </a:lnSpc>
            </a:pPr>
            <a:r>
              <a:t/>
            </a:r>
            <a:endParaRPr lang="nl-NL" sz="2424" noProof="0" dirty="0">
              <a:solidFill>
                <a:srgbClr val="191935"/>
              </a:solidFill>
              <a:latin typeface="Poppins" panose="00000500000000000000" pitchFamily="2" charset="0"/>
              <a:ea typeface="ITC Franklin Gothic LT"/>
              <a:cs typeface="Poppins" panose="00000500000000000000" pitchFamily="2" charset="0"/>
              <a:sym typeface="ITC Franklin Gothic LT"/>
            </a:endParaRPr>
          </a:p>
          <a:p>
            <a:pPr algn="l">
              <a:lnSpc>
                <a:spcPts val="3879"/>
              </a:lnSpc>
            </a:pPr>
            <a:r>
              <a:rPr lang="nl-NL" sz="2424" noProof="0" dirty="0">
                <a:solidFill>
                  <a:srgbClr val="191935"/>
                </a:solidFill>
                <a:latin typeface="Poppins" panose="00000500000000000000" pitchFamily="2" charset="0"/>
                <a:ea typeface="ITC Franklin Gothic LT"/>
                <a:cs typeface="Poppins" panose="00000500000000000000" pitchFamily="2" charset="0"/>
                <a:sym typeface="ITC Franklin Gothic LT"/>
              </a:rPr>
              <a:t/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5477510"/>
            <a:ext cx="7403995" cy="3462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nl-NL" sz="2424" noProof="0" dirty="0">
                <a:solidFill>
                  <a:srgbClr val="191935"/>
                </a:solidFill>
                <a:latin typeface="Poppins" panose="00000500000000000000" pitchFamily="2" charset="0"/>
                <a:ea typeface="ITC Franklin Gothic LT"/>
                <a:cs typeface="Poppins" panose="00000500000000000000" pitchFamily="2" charset="0"/>
                <a:sym typeface="ITC Franklin Gothic LT"/>
              </a:rPr>
              <a:t>{{afspraak_2}}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14002" y="3247166"/>
            <a:ext cx="7403995" cy="146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nl-NL" sz="2424" noProof="0" dirty="0">
                <a:solidFill>
                  <a:srgbClr val="191935"/>
                </a:solidFill>
                <a:latin typeface="Poppins" panose="00000500000000000000" pitchFamily="2" charset="0"/>
                <a:ea typeface="ITC Franklin Gothic LT"/>
                <a:cs typeface="Poppins" panose="00000500000000000000" pitchFamily="2" charset="0"/>
                <a:sym typeface="ITC Franklin Gothic LT"/>
              </a:rPr>
              <a:t>{{afspraak_3}}</a:t>
            </a:r>
          </a:p>
          <a:p>
            <a:pPr algn="l">
              <a:lnSpc>
                <a:spcPts val="3879"/>
              </a:lnSpc>
            </a:pPr>
            <a:r>
              <a:t/>
            </a:r>
            <a:endParaRPr lang="nl-NL" sz="2424" noProof="0" dirty="0">
              <a:solidFill>
                <a:srgbClr val="191935"/>
              </a:solidFill>
              <a:latin typeface="Poppins" panose="00000500000000000000" pitchFamily="2" charset="0"/>
              <a:ea typeface="ITC Franklin Gothic LT"/>
              <a:cs typeface="Poppins" panose="00000500000000000000" pitchFamily="2" charset="0"/>
              <a:sym typeface="ITC Franklin Gothic 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2104" y="3013628"/>
            <a:ext cx="15932095" cy="5158016"/>
          </a:xfrm>
          <a:custGeom>
            <a:avLst/>
            <a:gdLst/>
            <a:ahLst/>
            <a:cxnLst/>
            <a:rect l="l" t="t" r="r" b="b"/>
            <a:pathLst>
              <a:path w="15932095" h="5158016">
                <a:moveTo>
                  <a:pt x="0" y="0"/>
                </a:moveTo>
                <a:lnTo>
                  <a:pt x="15932095" y="0"/>
                </a:lnTo>
                <a:lnTo>
                  <a:pt x="15932095" y="5158016"/>
                </a:lnTo>
                <a:lnTo>
                  <a:pt x="0" y="51580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NL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330540" y="-1376418"/>
            <a:ext cx="15351744" cy="21005869"/>
            <a:chOff x="0" y="0"/>
            <a:chExt cx="20468992" cy="28007825"/>
          </a:xfrm>
        </p:grpSpPr>
        <p:sp>
          <p:nvSpPr>
            <p:cNvPr id="4" name="Freeform 4"/>
            <p:cNvSpPr/>
            <p:nvPr/>
          </p:nvSpPr>
          <p:spPr>
            <a:xfrm rot="-2462005">
              <a:off x="2068237" y="11758704"/>
              <a:ext cx="16332519" cy="12412714"/>
            </a:xfrm>
            <a:custGeom>
              <a:avLst/>
              <a:gdLst/>
              <a:ahLst/>
              <a:cxnLst/>
              <a:rect l="l" t="t" r="r" b="b"/>
              <a:pathLst>
                <a:path w="16332519" h="12412714">
                  <a:moveTo>
                    <a:pt x="0" y="0"/>
                  </a:moveTo>
                  <a:lnTo>
                    <a:pt x="16332518" y="0"/>
                  </a:lnTo>
                  <a:lnTo>
                    <a:pt x="16332518" y="12412714"/>
                  </a:lnTo>
                  <a:lnTo>
                    <a:pt x="0" y="12412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nl-NL" noProof="0" dirty="0"/>
            </a:p>
          </p:txBody>
        </p:sp>
        <p:sp>
          <p:nvSpPr>
            <p:cNvPr id="5" name="Freeform 5"/>
            <p:cNvSpPr/>
            <p:nvPr/>
          </p:nvSpPr>
          <p:spPr>
            <a:xfrm rot="5602783">
              <a:off x="5134846" y="3001708"/>
              <a:ext cx="16833371" cy="11477299"/>
            </a:xfrm>
            <a:custGeom>
              <a:avLst/>
              <a:gdLst/>
              <a:ahLst/>
              <a:cxnLst/>
              <a:rect l="l" t="t" r="r" b="b"/>
              <a:pathLst>
                <a:path w="16833371" h="11477299">
                  <a:moveTo>
                    <a:pt x="0" y="0"/>
                  </a:moveTo>
                  <a:lnTo>
                    <a:pt x="16833371" y="0"/>
                  </a:lnTo>
                  <a:lnTo>
                    <a:pt x="16833371" y="11477299"/>
                  </a:lnTo>
                  <a:lnTo>
                    <a:pt x="0" y="11477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nl-N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269751" y="5820825"/>
            <a:ext cx="574893" cy="526746"/>
          </a:xfrm>
          <a:custGeom>
            <a:avLst/>
            <a:gdLst/>
            <a:ahLst/>
            <a:cxnLst/>
            <a:rect l="l" t="t" r="r" b="b"/>
            <a:pathLst>
              <a:path w="574893" h="526746">
                <a:moveTo>
                  <a:pt x="0" y="0"/>
                </a:moveTo>
                <a:lnTo>
                  <a:pt x="574894" y="0"/>
                </a:lnTo>
                <a:lnTo>
                  <a:pt x="574894" y="526746"/>
                </a:lnTo>
                <a:lnTo>
                  <a:pt x="0" y="526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1104900"/>
            <a:ext cx="14012605" cy="11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20"/>
              </a:lnSpc>
            </a:pPr>
            <a:r>
              <a:rPr lang="nl-NL" sz="8200" spc="-164" noProof="0" dirty="0">
                <a:solidFill>
                  <a:srgbClr val="191935"/>
                </a:solidFill>
                <a:latin typeface="Poppins" panose="00000500000000000000" pitchFamily="2" charset="0"/>
                <a:ea typeface="Gosha"/>
                <a:cs typeface="Poppins" panose="00000500000000000000" pitchFamily="2" charset="0"/>
                <a:sym typeface="Gosha"/>
              </a:rPr>
              <a:t>HET PROCES VAN COOBLE</a:t>
            </a:r>
          </a:p>
        </p:txBody>
      </p:sp>
      <p:sp>
        <p:nvSpPr>
          <p:cNvPr id="8" name="Freeform 8"/>
          <p:cNvSpPr/>
          <p:nvPr/>
        </p:nvSpPr>
        <p:spPr>
          <a:xfrm>
            <a:off x="3914373" y="5820825"/>
            <a:ext cx="574893" cy="526746"/>
          </a:xfrm>
          <a:custGeom>
            <a:avLst/>
            <a:gdLst/>
            <a:ahLst/>
            <a:cxnLst/>
            <a:rect l="l" t="t" r="r" b="b"/>
            <a:pathLst>
              <a:path w="574893" h="526746">
                <a:moveTo>
                  <a:pt x="0" y="0"/>
                </a:moveTo>
                <a:lnTo>
                  <a:pt x="574893" y="0"/>
                </a:lnTo>
                <a:lnTo>
                  <a:pt x="574893" y="526746"/>
                </a:lnTo>
                <a:lnTo>
                  <a:pt x="0" y="526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6594291" y="5820825"/>
            <a:ext cx="574893" cy="526746"/>
          </a:xfrm>
          <a:custGeom>
            <a:avLst/>
            <a:gdLst/>
            <a:ahLst/>
            <a:cxnLst/>
            <a:rect l="l" t="t" r="r" b="b"/>
            <a:pathLst>
              <a:path w="574893" h="526746">
                <a:moveTo>
                  <a:pt x="0" y="0"/>
                </a:moveTo>
                <a:lnTo>
                  <a:pt x="574893" y="0"/>
                </a:lnTo>
                <a:lnTo>
                  <a:pt x="574893" y="526746"/>
                </a:lnTo>
                <a:lnTo>
                  <a:pt x="0" y="526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9274209" y="5820825"/>
            <a:ext cx="574893" cy="526746"/>
          </a:xfrm>
          <a:custGeom>
            <a:avLst/>
            <a:gdLst/>
            <a:ahLst/>
            <a:cxnLst/>
            <a:rect l="l" t="t" r="r" b="b"/>
            <a:pathLst>
              <a:path w="574893" h="526746">
                <a:moveTo>
                  <a:pt x="0" y="0"/>
                </a:moveTo>
                <a:lnTo>
                  <a:pt x="574894" y="0"/>
                </a:lnTo>
                <a:lnTo>
                  <a:pt x="574894" y="526746"/>
                </a:lnTo>
                <a:lnTo>
                  <a:pt x="0" y="526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1950116" y="5782725"/>
            <a:ext cx="574893" cy="526746"/>
          </a:xfrm>
          <a:custGeom>
            <a:avLst/>
            <a:gdLst/>
            <a:ahLst/>
            <a:cxnLst/>
            <a:rect l="l" t="t" r="r" b="b"/>
            <a:pathLst>
              <a:path w="574893" h="526746">
                <a:moveTo>
                  <a:pt x="0" y="0"/>
                </a:moveTo>
                <a:lnTo>
                  <a:pt x="574893" y="0"/>
                </a:lnTo>
                <a:lnTo>
                  <a:pt x="574893" y="526746"/>
                </a:lnTo>
                <a:lnTo>
                  <a:pt x="0" y="526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1F4BAAEBE61146B41BB4A49651760C" ma:contentTypeVersion="19" ma:contentTypeDescription="Een nieuw document maken." ma:contentTypeScope="" ma:versionID="f939cdb6c38939697a22abaebbed7fab">
  <xsd:schema xmlns:xsd="http://www.w3.org/2001/XMLSchema" xmlns:xs="http://www.w3.org/2001/XMLSchema" xmlns:p="http://schemas.microsoft.com/office/2006/metadata/properties" xmlns:ns2="d3b5fa4d-a301-4b9a-8486-5926f80f3101" xmlns:ns3="e5cb77fe-fbe2-48c4-b6e8-da8cebe24884" targetNamespace="http://schemas.microsoft.com/office/2006/metadata/properties" ma:root="true" ma:fieldsID="8333ff64b44fb59856e96f34312bb0c3" ns2:_="" ns3:_="">
    <xsd:import namespace="d3b5fa4d-a301-4b9a-8486-5926f80f3101"/>
    <xsd:import namespace="e5cb77fe-fbe2-48c4-b6e8-da8cebe248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Vacatur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b5fa4d-a301-4b9a-8486-5926f80f31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f1b3a8a3-d1d5-4a08-b9b1-52432b16e7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Vacature" ma:index="25" nillable="true" ma:displayName="Vacature" ma:format="RadioButtons" ma:internalName="Vacature">
      <xsd:simpleType>
        <xsd:restriction base="dms:Choice">
          <xsd:enumeration value="Renault Nebim_Accountmanager"/>
          <xsd:enumeration value="LVNL_Product Owner"/>
          <xsd:enumeration value="LVNL_Systeem Analist"/>
        </xsd:restriction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cb77fe-fbe2-48c4-b6e8-da8cebe2488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a3ab9d1d-6006-4f89-98b6-a1879709934e}" ma:internalName="TaxCatchAll" ma:showField="CatchAllData" ma:web="e5cb77fe-fbe2-48c4-b6e8-da8cebe248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5cb77fe-fbe2-48c4-b6e8-da8cebe24884" xsi:nil="true"/>
    <lcf76f155ced4ddcb4097134ff3c332f xmlns="d3b5fa4d-a301-4b9a-8486-5926f80f3101">
      <Terms xmlns="http://schemas.microsoft.com/office/infopath/2007/PartnerControls"/>
    </lcf76f155ced4ddcb4097134ff3c332f>
    <Vacature xmlns="d3b5fa4d-a301-4b9a-8486-5926f80f3101" xsi:nil="true"/>
  </documentManagement>
</p:properties>
</file>

<file path=customXml/itemProps1.xml><?xml version="1.0" encoding="utf-8"?>
<ds:datastoreItem xmlns:ds="http://schemas.openxmlformats.org/officeDocument/2006/customXml" ds:itemID="{1818D34A-4D65-4F53-BE06-CE666DAE66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b5fa4d-a301-4b9a-8486-5926f80f3101"/>
    <ds:schemaRef ds:uri="e5cb77fe-fbe2-48c4-b6e8-da8cebe248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812D47-63E9-4AD3-9775-20C4D30080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C1EA0B-0DD7-4524-B9E4-477E9BC85879}">
  <ds:schemaRefs>
    <ds:schemaRef ds:uri="d3b5fa4d-a301-4b9a-8486-5926f80f3101"/>
    <ds:schemaRef ds:uri="e5cb77fe-fbe2-48c4-b6e8-da8cebe24884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184</Words>
  <Application>Microsoft Office PowerPoint</Application>
  <PresentationFormat>Aangepast</PresentationFormat>
  <Paragraphs>57</Paragraphs>
  <Slides>7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2" baseType="lpstr">
      <vt:lpstr>Aptos</vt:lpstr>
      <vt:lpstr>Arial</vt:lpstr>
      <vt:lpstr>Poppins</vt:lpstr>
      <vt:lpstr>Calibri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Kick off document Cooble</dc:title>
  <dc:creator>Milou</dc:creator>
  <cp:lastModifiedBy>Laura Levert</cp:lastModifiedBy>
  <cp:revision>3</cp:revision>
  <dcterms:created xsi:type="dcterms:W3CDTF">2006-08-16T00:00:00Z</dcterms:created>
  <dcterms:modified xsi:type="dcterms:W3CDTF">2026-08-18T11:25:57Z</dcterms:modified>
  <dc:identifier>DAG87M4PdE8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0x010100A21F4BAAEBE61146B41BB4A49651760C</vt:lpwstr>
  </property>
  <property fmtid="{D5CDD505-2E9C-101B-9397-08002B2CF9AE}" pid="3" name="MediaServiceImageTags">
    <vt:lpwstr/>
  </property>
</Properties>
</file>